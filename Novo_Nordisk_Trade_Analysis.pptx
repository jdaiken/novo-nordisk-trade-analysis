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we're analyzing how Novo Nordisk — one of the world's most valuable pharmaceutical companies — navigated an unprecedented collision of U.S. trade policy, pricing mandates, and competitive disruption in 2025. We'll cover the company, the disruption, two major challenges, and a three-phase strategy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Novo Nordisk was founded in 1923 and built its foundation on insulin. But the company you see today is almost entirely a GLP-1 story. Ozempic alone crossed DKK 120 billion in sales. Wegovy grew 86% year-over-year. The U.S. represents half of all revenue — which is exactly why the 2025 trade actions created such an existential threat. Source: Novo Nordisk Form 20-F,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Trump administration hit Novo Nordisk from three directions at once. First, 100% tariffs — since nearly all production is in Denmark and France, this would have doubled their costs in the U.S. Second, MFN pricing mandates threatened an 82% margin cut on government programs. Third, RFK Jr.'s characterization of GLP-1s as "overconsumption" drugs threatened coverage and FDA approvals. Any one of these alone would be serious. All three together created a genuine existential crisis for their U.S. market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challenges reinforce each other. Challenge 1 is existential and immediate — tariffs plus MFN pricing threatened to make the U.S. market untenable overnight. Challenge 2 is structural and longer-term — even if the tariff crisis is resolved, Eli Lilly's domestic manufacturing advantage and compounding pharmacies eroding the market from the bottom are problems that don't go away. A solution to Challenge 1 that ignores Challenge 2 only buys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here is that Solution A is not just strategically better — it already happened. Novo Nordisk struck a deal in November 2025, accepting significant price cuts in exchange for tariff exemptions and Medicare/Medicaid coverage. Solution B would have taken 3–5 years to build new facilities. The October 2025 deadline made that a non-starter. And critically, even if they had moved production, it wouldn't have addressed the MFN pricing problem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B is tempting because it's cheaper — education campaigns and legal filings cost far less than R&amp;D. But it doesn't solve the fundamental problem: it creates zero differentiation from Eli Lilly. Both companies would be running the same campaigns. The real weapon here is innovation that competitors literally cannot copy. Oral semaglutide is extremely difficult for compounding pharmacies to replicate. CagriSema's 22.7% weight loss result is clinically differentiated. The Alzheimer's trial directly addresses RFK Jr.'s argument that these are lifestyle drugs rather than disease treatments.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concepts from Hill's textbook directly map to this case. FDI: the $10B U.S. commitment is a textbook pivot from efficiency-seeking to market-seeking FDI. Comparative advantage: Denmark genuinely has world-class biotech manufacturing infrastructure — the tariffs override economic logic with political logic. Non-tariff trade barriers: MFN pricing is the sneakier and arguably more damaging threat. It doesn't block trade directly but guts the economics of exporting to the U.S. market. Strategic trade policy: the whole framework is designed to advantage Eli Lilly at Novo Nordisk's expense — exactly what Hill describes in Chapters 7 and 8 when discussing Smoot-Hawley-style interventions.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phases address different time horizons and different problems. Phase 1 is about survival — accept the deal that was already struck in November 2025, stop the bleeding, and get back to operating normally. Phase 2 is about durability — embed Novo Nordisk so deeply in the U.S. economy through jobs, suppliers, and local stakeholders that any future administration faces real political cost to targeting them again. Phase 3 is about long-term competitiveness — the semaglutide patent expires in 2032, and if the company hasn't built successor products by then, Eli Lilly and generic manufacturers take the market. Oral semaglutide and CagriSema are already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worth emphasizing for your professor. First, this is a real-time case — the November 2025 deal happened while this paper was being written, which means our recommended strategy is validated by what actually occurred. Second, the non-tariff barrier point is particularly strong for an international business course — most people think of trade barriers as tariffs at the border, but MFN pricing shows how pricing regulation can be just as powerful. Third, the FDI point reinforces that international investment decisions are never purely economic. Fourth, the 2032 patent cliff is the part the company cannot afford to get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noting that this is a live case — it's still unfolding. The November 2025 deal is implemented but the BALANCE CMS model wasn't set to launch until May 2026. The Clayton facility won't be operational until 2029. And the oral Wegovy just launched in January 2026. So in a real sense, Novo Nordisk is right now executing the Phase 1 and 2 of the strategy recommended in this paper.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74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8A7A"/>
          </a:solidFill>
          <a:ln w="12700">
            <a:solidFill>
              <a:srgbClr val="0E8A7A"/>
            </a:solidFill>
            <a:prstDash val="solid"/>
          </a:ln>
        </p:spPr>
      </p:sp>
      <p:sp>
        <p:nvSpPr>
          <p:cNvPr id="3" name="Text 1"/>
          <p:cNvSpPr/>
          <p:nvPr/>
        </p:nvSpPr>
        <p:spPr>
          <a:xfrm>
            <a:off x="548640" y="914400"/>
            <a:ext cx="6400800" cy="2377440"/>
          </a:xfrm>
          <a:prstGeom prst="rect">
            <a:avLst/>
          </a:prstGeom>
          <a:noFill/>
          <a:ln/>
        </p:spPr>
        <p:txBody>
          <a:bodyPr wrap="square" rtlCol="0" anchor="ctr"/>
          <a:lstStyle/>
          <a:p>
            <a:pPr indent="0" marL="0">
              <a:lnSpc>
                <a:spcPct val="120000"/>
              </a:lnSpc>
              <a:buNone/>
            </a:pPr>
            <a:r>
              <a:rPr lang="en-US" sz="3600" b="1" dirty="0">
                <a:solidFill>
                  <a:srgbClr val="FFFFFF"/>
                </a:solidFill>
                <a:latin typeface="Cambria" pitchFamily="34" charset="0"/>
                <a:ea typeface="Cambria" pitchFamily="34" charset="-122"/>
                <a:cs typeface="Cambria" pitchFamily="34" charset="-120"/>
              </a:rPr>
              <a:t>Novo Nordisk and the</a:t>
            </a:r>
            <a:endParaRPr lang="en-US" sz="3600" dirty="0"/>
          </a:p>
          <a:p>
            <a:pPr indent="0" marL="0">
              <a:lnSpc>
                <a:spcPct val="120000"/>
              </a:lnSpc>
              <a:buNone/>
            </a:pPr>
            <a:r>
              <a:rPr lang="en-US" sz="3600" b="1" dirty="0">
                <a:solidFill>
                  <a:srgbClr val="FFFFFF"/>
                </a:solidFill>
                <a:latin typeface="Cambria" pitchFamily="34" charset="0"/>
                <a:ea typeface="Cambria" pitchFamily="34" charset="-122"/>
                <a:cs typeface="Cambria" pitchFamily="34" charset="-120"/>
              </a:rPr>
              <a:t>New Era of Pharmaceutical</a:t>
            </a:r>
            <a:endParaRPr lang="en-US" sz="3600" dirty="0"/>
          </a:p>
          <a:p>
            <a:pPr indent="0" marL="0">
              <a:lnSpc>
                <a:spcPct val="120000"/>
              </a:lnSpc>
              <a:buNone/>
            </a:pPr>
            <a:r>
              <a:rPr lang="en-US" sz="3600" b="1" dirty="0">
                <a:solidFill>
                  <a:srgbClr val="FFFFFF"/>
                </a:solidFill>
                <a:latin typeface="Cambria" pitchFamily="34" charset="0"/>
                <a:ea typeface="Cambria" pitchFamily="34" charset="-122"/>
                <a:cs typeface="Cambria" pitchFamily="34" charset="-120"/>
              </a:rPr>
              <a:t>Trade Disruption</a:t>
            </a:r>
            <a:endParaRPr lang="en-US" sz="3600" dirty="0"/>
          </a:p>
        </p:txBody>
      </p:sp>
      <p:sp>
        <p:nvSpPr>
          <p:cNvPr id="4" name="Shape 2"/>
          <p:cNvSpPr/>
          <p:nvPr/>
        </p:nvSpPr>
        <p:spPr>
          <a:xfrm>
            <a:off x="548640" y="3337560"/>
            <a:ext cx="1463040" cy="54864"/>
          </a:xfrm>
          <a:prstGeom prst="rect">
            <a:avLst/>
          </a:prstGeom>
          <a:solidFill>
            <a:srgbClr val="C8922A"/>
          </a:solidFill>
          <a:ln w="12700">
            <a:solidFill>
              <a:srgbClr val="C8922A"/>
            </a:solidFill>
            <a:prstDash val="solid"/>
          </a:ln>
        </p:spPr>
      </p:sp>
      <p:sp>
        <p:nvSpPr>
          <p:cNvPr id="5" name="Text 3"/>
          <p:cNvSpPr/>
          <p:nvPr/>
        </p:nvSpPr>
        <p:spPr>
          <a:xfrm>
            <a:off x="548640" y="3429000"/>
            <a:ext cx="6400800" cy="365760"/>
          </a:xfrm>
          <a:prstGeom prst="rect">
            <a:avLst/>
          </a:prstGeom>
          <a:noFill/>
          <a:ln/>
        </p:spPr>
        <p:txBody>
          <a:bodyPr wrap="square" rtlCol="0" anchor="ctr"/>
          <a:lstStyle/>
          <a:p>
            <a:pPr indent="0" marL="0">
              <a:buNone/>
            </a:pPr>
            <a:r>
              <a:rPr lang="en-US" sz="1300" dirty="0">
                <a:solidFill>
                  <a:srgbClr val="AABBCC"/>
                </a:solidFill>
                <a:latin typeface="Calibri" pitchFamily="34" charset="0"/>
                <a:ea typeface="Calibri" pitchFamily="34" charset="-122"/>
                <a:cs typeface="Calibri" pitchFamily="34" charset="-120"/>
              </a:rPr>
              <a:t>BUS 280  ·  International Business  ·  John Aiken</a:t>
            </a:r>
            <a:endParaRPr lang="en-US" sz="1300" dirty="0"/>
          </a:p>
        </p:txBody>
      </p:sp>
      <p:sp>
        <p:nvSpPr>
          <p:cNvPr id="6" name="Shape 4"/>
          <p:cNvSpPr/>
          <p:nvPr/>
        </p:nvSpPr>
        <p:spPr>
          <a:xfrm>
            <a:off x="7406640" y="73152"/>
            <a:ext cx="1737360" cy="5070348"/>
          </a:xfrm>
          <a:prstGeom prst="rect">
            <a:avLst/>
          </a:prstGeom>
          <a:solidFill>
            <a:srgbClr val="1A3A5C"/>
          </a:solidFill>
          <a:ln w="12700">
            <a:solidFill>
              <a:srgbClr val="1A3A5C"/>
            </a:solidFill>
            <a:prstDash val="solid"/>
          </a:ln>
        </p:spPr>
      </p:sp>
      <p:sp>
        <p:nvSpPr>
          <p:cNvPr id="7" name="Text 5"/>
          <p:cNvSpPr/>
          <p:nvPr/>
        </p:nvSpPr>
        <p:spPr>
          <a:xfrm>
            <a:off x="7424928" y="1463040"/>
            <a:ext cx="1700784" cy="1828800"/>
          </a:xfrm>
          <a:prstGeom prst="rect">
            <a:avLst/>
          </a:prstGeom>
          <a:noFill/>
          <a:ln/>
        </p:spPr>
        <p:txBody>
          <a:bodyPr wrap="square" rtlCol="0" anchor="ctr"/>
          <a:lstStyle/>
          <a:p>
            <a:pPr algn="ctr" indent="0" marL="0">
              <a:lnSpc>
                <a:spcPct val="160000"/>
              </a:lnSpc>
              <a:buNone/>
            </a:pPr>
            <a:r>
              <a:rPr lang="en-US" sz="900" b="1" spc="200" kern="0" dirty="0">
                <a:solidFill>
                  <a:srgbClr val="14B8A6"/>
                </a:solidFill>
                <a:latin typeface="Calibri" pitchFamily="34" charset="0"/>
                <a:ea typeface="Calibri" pitchFamily="34" charset="-122"/>
                <a:cs typeface="Calibri" pitchFamily="34" charset="-120"/>
              </a:rPr>
              <a:t>PHARMACEUTICAL</a:t>
            </a:r>
            <a:endParaRPr lang="en-US" sz="900" dirty="0"/>
          </a:p>
          <a:p>
            <a:pPr algn="ctr" indent="0" marL="0">
              <a:lnSpc>
                <a:spcPct val="160000"/>
              </a:lnSpc>
              <a:buNone/>
            </a:pPr>
            <a:r>
              <a:rPr lang="en-US" sz="900" b="1" spc="200" kern="0" dirty="0">
                <a:solidFill>
                  <a:srgbClr val="14B8A6"/>
                </a:solidFill>
                <a:latin typeface="Calibri" pitchFamily="34" charset="0"/>
                <a:ea typeface="Calibri" pitchFamily="34" charset="-122"/>
                <a:cs typeface="Calibri" pitchFamily="34" charset="-120"/>
              </a:rPr>
              <a:t>TRADE POLICY</a:t>
            </a:r>
            <a:endParaRPr lang="en-US" sz="900" dirty="0"/>
          </a:p>
          <a:p>
            <a:pPr algn="ctr" indent="0" marL="0">
              <a:lnSpc>
                <a:spcPct val="160000"/>
              </a:lnSpc>
              <a:buNone/>
            </a:pPr>
            <a:r>
              <a:rPr lang="en-US" sz="900" b="1" spc="200" kern="0" dirty="0">
                <a:solidFill>
                  <a:srgbClr val="14B8A6"/>
                </a:solidFill>
                <a:latin typeface="Calibri" pitchFamily="34" charset="0"/>
                <a:ea typeface="Calibri" pitchFamily="34" charset="-122"/>
                <a:cs typeface="Calibri" pitchFamily="34" charset="-120"/>
              </a:rPr>
              <a:t>ANALYSIS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64592"/>
            <a:ext cx="8412480" cy="27432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SECTION A  ·  INDUSTRY &amp; COMPANY OVERVIEW</a:t>
            </a:r>
            <a:endParaRPr lang="en-US" sz="900" dirty="0"/>
          </a:p>
        </p:txBody>
      </p:sp>
      <p:sp>
        <p:nvSpPr>
          <p:cNvPr id="3" name="Text 1"/>
          <p:cNvSpPr/>
          <p:nvPr/>
        </p:nvSpPr>
        <p:spPr>
          <a:xfrm>
            <a:off x="365760" y="475488"/>
            <a:ext cx="8412480" cy="68580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Novo Nordisk at a Glance</a:t>
            </a:r>
            <a:endParaRPr lang="en-US" sz="3000" dirty="0"/>
          </a:p>
        </p:txBody>
      </p:sp>
      <p:sp>
        <p:nvSpPr>
          <p:cNvPr id="4" name="Shape 2"/>
          <p:cNvSpPr/>
          <p:nvPr/>
        </p:nvSpPr>
        <p:spPr>
          <a:xfrm>
            <a:off x="365760" y="1170432"/>
            <a:ext cx="1097280" cy="45720"/>
          </a:xfrm>
          <a:prstGeom prst="rect">
            <a:avLst/>
          </a:prstGeom>
          <a:solidFill>
            <a:srgbClr val="0E8A7A"/>
          </a:solidFill>
          <a:ln w="12700">
            <a:solidFill>
              <a:srgbClr val="0E8A7A"/>
            </a:solidFill>
            <a:prstDash val="solid"/>
          </a:ln>
        </p:spPr>
      </p:sp>
      <p:sp>
        <p:nvSpPr>
          <p:cNvPr id="5" name="Shape 3"/>
          <p:cNvSpPr/>
          <p:nvPr/>
        </p:nvSpPr>
        <p:spPr>
          <a:xfrm>
            <a:off x="365760" y="1371600"/>
            <a:ext cx="1920240" cy="1188720"/>
          </a:xfrm>
          <a:prstGeom prst="rect">
            <a:avLst/>
          </a:prstGeom>
          <a:solidFill>
            <a:srgbClr val="1A3A5C"/>
          </a:solidFill>
          <a:ln w="12700">
            <a:solidFill>
              <a:srgbClr val="1A3A5C"/>
            </a:solidFill>
            <a:prstDash val="solid"/>
          </a:ln>
        </p:spPr>
      </p:sp>
      <p:sp>
        <p:nvSpPr>
          <p:cNvPr id="6" name="Text 4"/>
          <p:cNvSpPr/>
          <p:nvPr/>
        </p:nvSpPr>
        <p:spPr>
          <a:xfrm>
            <a:off x="365760" y="1463040"/>
            <a:ext cx="1920240" cy="594360"/>
          </a:xfrm>
          <a:prstGeom prst="rect">
            <a:avLst/>
          </a:prstGeom>
          <a:noFill/>
          <a:ln/>
        </p:spPr>
        <p:txBody>
          <a:bodyPr wrap="square" rtlCol="0" anchor="ctr"/>
          <a:lstStyle/>
          <a:p>
            <a:pPr algn="ctr" indent="0" marL="0">
              <a:buNone/>
            </a:pPr>
            <a:r>
              <a:rPr lang="en-US" sz="2800" b="1" dirty="0">
                <a:solidFill>
                  <a:srgbClr val="C8922A"/>
                </a:solidFill>
                <a:latin typeface="Cambria" pitchFamily="34" charset="0"/>
                <a:ea typeface="Cambria" pitchFamily="34" charset="-122"/>
                <a:cs typeface="Cambria" pitchFamily="34" charset="-120"/>
              </a:rPr>
              <a:t>DKK 290B</a:t>
            </a:r>
            <a:endParaRPr lang="en-US" sz="2800" dirty="0"/>
          </a:p>
        </p:txBody>
      </p:sp>
      <p:sp>
        <p:nvSpPr>
          <p:cNvPr id="7" name="Text 5"/>
          <p:cNvSpPr/>
          <p:nvPr/>
        </p:nvSpPr>
        <p:spPr>
          <a:xfrm>
            <a:off x="365760" y="2029968"/>
            <a:ext cx="1920240" cy="438912"/>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Total 2024 Sales (~$41B USD)</a:t>
            </a:r>
            <a:endParaRPr lang="en-US" sz="1000" dirty="0"/>
          </a:p>
        </p:txBody>
      </p:sp>
      <p:sp>
        <p:nvSpPr>
          <p:cNvPr id="8" name="Shape 6"/>
          <p:cNvSpPr/>
          <p:nvPr/>
        </p:nvSpPr>
        <p:spPr>
          <a:xfrm>
            <a:off x="2377440" y="1371600"/>
            <a:ext cx="1920240" cy="1188720"/>
          </a:xfrm>
          <a:prstGeom prst="rect">
            <a:avLst/>
          </a:prstGeom>
          <a:solidFill>
            <a:srgbClr val="1A3A5C"/>
          </a:solidFill>
          <a:ln w="12700">
            <a:solidFill>
              <a:srgbClr val="1A3A5C"/>
            </a:solidFill>
            <a:prstDash val="solid"/>
          </a:ln>
        </p:spPr>
      </p:sp>
      <p:sp>
        <p:nvSpPr>
          <p:cNvPr id="9" name="Text 7"/>
          <p:cNvSpPr/>
          <p:nvPr/>
        </p:nvSpPr>
        <p:spPr>
          <a:xfrm>
            <a:off x="2377440" y="1463040"/>
            <a:ext cx="1920240" cy="594360"/>
          </a:xfrm>
          <a:prstGeom prst="rect">
            <a:avLst/>
          </a:prstGeom>
          <a:noFill/>
          <a:ln/>
        </p:spPr>
        <p:txBody>
          <a:bodyPr wrap="square" rtlCol="0" anchor="ctr"/>
          <a:lstStyle/>
          <a:p>
            <a:pPr algn="ctr" indent="0" marL="0">
              <a:buNone/>
            </a:pPr>
            <a:r>
              <a:rPr lang="en-US" sz="2800" b="1" dirty="0">
                <a:solidFill>
                  <a:srgbClr val="C8922A"/>
                </a:solidFill>
                <a:latin typeface="Cambria" pitchFamily="34" charset="0"/>
                <a:ea typeface="Cambria" pitchFamily="34" charset="-122"/>
                <a:cs typeface="Cambria" pitchFamily="34" charset="-120"/>
              </a:rPr>
              <a:t>+25%</a:t>
            </a:r>
            <a:endParaRPr lang="en-US" sz="2800" dirty="0"/>
          </a:p>
        </p:txBody>
      </p:sp>
      <p:sp>
        <p:nvSpPr>
          <p:cNvPr id="10" name="Text 8"/>
          <p:cNvSpPr/>
          <p:nvPr/>
        </p:nvSpPr>
        <p:spPr>
          <a:xfrm>
            <a:off x="2377440" y="2029968"/>
            <a:ext cx="1920240" cy="438912"/>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2024 Revenue Growth vs. 2023</a:t>
            </a:r>
            <a:endParaRPr lang="en-US" sz="1000" dirty="0"/>
          </a:p>
        </p:txBody>
      </p:sp>
      <p:sp>
        <p:nvSpPr>
          <p:cNvPr id="11" name="Shape 9"/>
          <p:cNvSpPr/>
          <p:nvPr/>
        </p:nvSpPr>
        <p:spPr>
          <a:xfrm>
            <a:off x="4389120" y="1371600"/>
            <a:ext cx="1920240" cy="1188720"/>
          </a:xfrm>
          <a:prstGeom prst="rect">
            <a:avLst/>
          </a:prstGeom>
          <a:solidFill>
            <a:srgbClr val="1A3A5C"/>
          </a:solidFill>
          <a:ln w="12700">
            <a:solidFill>
              <a:srgbClr val="1A3A5C"/>
            </a:solidFill>
            <a:prstDash val="solid"/>
          </a:ln>
        </p:spPr>
      </p:sp>
      <p:sp>
        <p:nvSpPr>
          <p:cNvPr id="12" name="Text 10"/>
          <p:cNvSpPr/>
          <p:nvPr/>
        </p:nvSpPr>
        <p:spPr>
          <a:xfrm>
            <a:off x="4389120" y="1463040"/>
            <a:ext cx="1920240" cy="594360"/>
          </a:xfrm>
          <a:prstGeom prst="rect">
            <a:avLst/>
          </a:prstGeom>
          <a:noFill/>
          <a:ln/>
        </p:spPr>
        <p:txBody>
          <a:bodyPr wrap="square" rtlCol="0" anchor="ctr"/>
          <a:lstStyle/>
          <a:p>
            <a:pPr algn="ctr" indent="0" marL="0">
              <a:buNone/>
            </a:pPr>
            <a:r>
              <a:rPr lang="en-US" sz="2800" b="1" dirty="0">
                <a:solidFill>
                  <a:srgbClr val="C8922A"/>
                </a:solidFill>
                <a:latin typeface="Cambria" pitchFamily="34" charset="0"/>
                <a:ea typeface="Cambria" pitchFamily="34" charset="-122"/>
                <a:cs typeface="Cambria" pitchFamily="34" charset="-120"/>
              </a:rPr>
              <a:t>50%</a:t>
            </a:r>
            <a:endParaRPr lang="en-US" sz="2800" dirty="0"/>
          </a:p>
        </p:txBody>
      </p:sp>
      <p:sp>
        <p:nvSpPr>
          <p:cNvPr id="13" name="Text 11"/>
          <p:cNvSpPr/>
          <p:nvPr/>
        </p:nvSpPr>
        <p:spPr>
          <a:xfrm>
            <a:off x="4389120" y="2029968"/>
            <a:ext cx="1920240" cy="438912"/>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Revenue from U.S. Market</a:t>
            </a:r>
            <a:endParaRPr lang="en-US" sz="1000" dirty="0"/>
          </a:p>
        </p:txBody>
      </p:sp>
      <p:sp>
        <p:nvSpPr>
          <p:cNvPr id="14" name="Shape 12"/>
          <p:cNvSpPr/>
          <p:nvPr/>
        </p:nvSpPr>
        <p:spPr>
          <a:xfrm>
            <a:off x="6400800" y="1371600"/>
            <a:ext cx="1920240" cy="1188720"/>
          </a:xfrm>
          <a:prstGeom prst="rect">
            <a:avLst/>
          </a:prstGeom>
          <a:solidFill>
            <a:srgbClr val="1A3A5C"/>
          </a:solidFill>
          <a:ln w="12700">
            <a:solidFill>
              <a:srgbClr val="1A3A5C"/>
            </a:solidFill>
            <a:prstDash val="solid"/>
          </a:ln>
        </p:spPr>
      </p:sp>
      <p:sp>
        <p:nvSpPr>
          <p:cNvPr id="15" name="Text 13"/>
          <p:cNvSpPr/>
          <p:nvPr/>
        </p:nvSpPr>
        <p:spPr>
          <a:xfrm>
            <a:off x="6400800" y="1463040"/>
            <a:ext cx="1920240" cy="594360"/>
          </a:xfrm>
          <a:prstGeom prst="rect">
            <a:avLst/>
          </a:prstGeom>
          <a:noFill/>
          <a:ln/>
        </p:spPr>
        <p:txBody>
          <a:bodyPr wrap="square" rtlCol="0" anchor="ctr"/>
          <a:lstStyle/>
          <a:p>
            <a:pPr algn="ctr" indent="0" marL="0">
              <a:buNone/>
            </a:pPr>
            <a:r>
              <a:rPr lang="en-US" sz="2800" b="1" dirty="0">
                <a:solidFill>
                  <a:srgbClr val="C8922A"/>
                </a:solidFill>
                <a:latin typeface="Cambria" pitchFamily="34" charset="0"/>
                <a:ea typeface="Cambria" pitchFamily="34" charset="-122"/>
                <a:cs typeface="Cambria" pitchFamily="34" charset="-120"/>
              </a:rPr>
              <a:t>75,000+</a:t>
            </a:r>
            <a:endParaRPr lang="en-US" sz="2800" dirty="0"/>
          </a:p>
        </p:txBody>
      </p:sp>
      <p:sp>
        <p:nvSpPr>
          <p:cNvPr id="16" name="Text 14"/>
          <p:cNvSpPr/>
          <p:nvPr/>
        </p:nvSpPr>
        <p:spPr>
          <a:xfrm>
            <a:off x="6400800" y="2029968"/>
            <a:ext cx="1920240" cy="438912"/>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Employees in 80 Countries</a:t>
            </a:r>
            <a:endParaRPr lang="en-US" sz="1000" dirty="0"/>
          </a:p>
        </p:txBody>
      </p:sp>
      <p:sp>
        <p:nvSpPr>
          <p:cNvPr id="17" name="Shape 15"/>
          <p:cNvSpPr/>
          <p:nvPr/>
        </p:nvSpPr>
        <p:spPr>
          <a:xfrm>
            <a:off x="365760" y="2697480"/>
            <a:ext cx="1920240" cy="1188720"/>
          </a:xfrm>
          <a:prstGeom prst="rect">
            <a:avLst/>
          </a:prstGeom>
          <a:solidFill>
            <a:srgbClr val="1A3A5C"/>
          </a:solidFill>
          <a:ln w="12700">
            <a:solidFill>
              <a:srgbClr val="1A3A5C"/>
            </a:solidFill>
            <a:prstDash val="solid"/>
          </a:ln>
        </p:spPr>
      </p:sp>
      <p:sp>
        <p:nvSpPr>
          <p:cNvPr id="18" name="Text 16"/>
          <p:cNvSpPr/>
          <p:nvPr/>
        </p:nvSpPr>
        <p:spPr>
          <a:xfrm>
            <a:off x="365760" y="2788920"/>
            <a:ext cx="1920240" cy="594360"/>
          </a:xfrm>
          <a:prstGeom prst="rect">
            <a:avLst/>
          </a:prstGeom>
          <a:noFill/>
          <a:ln/>
        </p:spPr>
        <p:txBody>
          <a:bodyPr wrap="square" rtlCol="0" anchor="ctr"/>
          <a:lstStyle/>
          <a:p>
            <a:pPr algn="ctr" indent="0" marL="0">
              <a:buNone/>
            </a:pPr>
            <a:r>
              <a:rPr lang="en-US" sz="2800" b="1" dirty="0">
                <a:solidFill>
                  <a:srgbClr val="C8922A"/>
                </a:solidFill>
                <a:latin typeface="Cambria" pitchFamily="34" charset="0"/>
                <a:ea typeface="Cambria" pitchFamily="34" charset="-122"/>
                <a:cs typeface="Cambria" pitchFamily="34" charset="-120"/>
              </a:rPr>
              <a:t>DKK 120B</a:t>
            </a:r>
            <a:endParaRPr lang="en-US" sz="2800" dirty="0"/>
          </a:p>
        </p:txBody>
      </p:sp>
      <p:sp>
        <p:nvSpPr>
          <p:cNvPr id="19" name="Text 17"/>
          <p:cNvSpPr/>
          <p:nvPr/>
        </p:nvSpPr>
        <p:spPr>
          <a:xfrm>
            <a:off x="365760" y="3355848"/>
            <a:ext cx="1920240" cy="438912"/>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Ozempic 2024 Sales</a:t>
            </a:r>
            <a:endParaRPr lang="en-US" sz="1000" dirty="0"/>
          </a:p>
        </p:txBody>
      </p:sp>
      <p:sp>
        <p:nvSpPr>
          <p:cNvPr id="20" name="Shape 18"/>
          <p:cNvSpPr/>
          <p:nvPr/>
        </p:nvSpPr>
        <p:spPr>
          <a:xfrm>
            <a:off x="2377440" y="2697480"/>
            <a:ext cx="1920240" cy="1188720"/>
          </a:xfrm>
          <a:prstGeom prst="rect">
            <a:avLst/>
          </a:prstGeom>
          <a:solidFill>
            <a:srgbClr val="1A3A5C"/>
          </a:solidFill>
          <a:ln w="12700">
            <a:solidFill>
              <a:srgbClr val="1A3A5C"/>
            </a:solidFill>
            <a:prstDash val="solid"/>
          </a:ln>
        </p:spPr>
      </p:sp>
      <p:sp>
        <p:nvSpPr>
          <p:cNvPr id="21" name="Text 19"/>
          <p:cNvSpPr/>
          <p:nvPr/>
        </p:nvSpPr>
        <p:spPr>
          <a:xfrm>
            <a:off x="2377440" y="2788920"/>
            <a:ext cx="1920240" cy="594360"/>
          </a:xfrm>
          <a:prstGeom prst="rect">
            <a:avLst/>
          </a:prstGeom>
          <a:noFill/>
          <a:ln/>
        </p:spPr>
        <p:txBody>
          <a:bodyPr wrap="square" rtlCol="0" anchor="ctr"/>
          <a:lstStyle/>
          <a:p>
            <a:pPr algn="ctr" indent="0" marL="0">
              <a:buNone/>
            </a:pPr>
            <a:r>
              <a:rPr lang="en-US" sz="2800" b="1" dirty="0">
                <a:solidFill>
                  <a:srgbClr val="C8922A"/>
                </a:solidFill>
                <a:latin typeface="Cambria" pitchFamily="34" charset="0"/>
                <a:ea typeface="Cambria" pitchFamily="34" charset="-122"/>
                <a:cs typeface="Cambria" pitchFamily="34" charset="-120"/>
              </a:rPr>
              <a:t>+86%</a:t>
            </a:r>
            <a:endParaRPr lang="en-US" sz="2800" dirty="0"/>
          </a:p>
        </p:txBody>
      </p:sp>
      <p:sp>
        <p:nvSpPr>
          <p:cNvPr id="22" name="Text 20"/>
          <p:cNvSpPr/>
          <p:nvPr/>
        </p:nvSpPr>
        <p:spPr>
          <a:xfrm>
            <a:off x="2377440" y="3355848"/>
            <a:ext cx="1920240" cy="438912"/>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Wegovy YoY Growth</a:t>
            </a:r>
            <a:endParaRPr lang="en-US" sz="1000" dirty="0"/>
          </a:p>
        </p:txBody>
      </p:sp>
      <p:sp>
        <p:nvSpPr>
          <p:cNvPr id="23" name="Shape 21"/>
          <p:cNvSpPr/>
          <p:nvPr/>
        </p:nvSpPr>
        <p:spPr>
          <a:xfrm>
            <a:off x="4389120" y="2697480"/>
            <a:ext cx="1920240" cy="1188720"/>
          </a:xfrm>
          <a:prstGeom prst="rect">
            <a:avLst/>
          </a:prstGeom>
          <a:solidFill>
            <a:srgbClr val="1A3A5C"/>
          </a:solidFill>
          <a:ln w="12700">
            <a:solidFill>
              <a:srgbClr val="1A3A5C"/>
            </a:solidFill>
            <a:prstDash val="solid"/>
          </a:ln>
        </p:spPr>
      </p:sp>
      <p:sp>
        <p:nvSpPr>
          <p:cNvPr id="24" name="Text 22"/>
          <p:cNvSpPr/>
          <p:nvPr/>
        </p:nvSpPr>
        <p:spPr>
          <a:xfrm>
            <a:off x="4389120" y="2788920"/>
            <a:ext cx="1920240" cy="594360"/>
          </a:xfrm>
          <a:prstGeom prst="rect">
            <a:avLst/>
          </a:prstGeom>
          <a:noFill/>
          <a:ln/>
        </p:spPr>
        <p:txBody>
          <a:bodyPr wrap="square" rtlCol="0" anchor="ctr"/>
          <a:lstStyle/>
          <a:p>
            <a:pPr algn="ctr" indent="0" marL="0">
              <a:buNone/>
            </a:pPr>
            <a:r>
              <a:rPr lang="en-US" sz="2800" b="1" dirty="0">
                <a:solidFill>
                  <a:srgbClr val="C8922A"/>
                </a:solidFill>
                <a:latin typeface="Cambria" pitchFamily="34" charset="0"/>
                <a:ea typeface="Cambria" pitchFamily="34" charset="-122"/>
                <a:cs typeface="Cambria" pitchFamily="34" charset="-120"/>
              </a:rPr>
              <a:t>33.7%</a:t>
            </a:r>
            <a:endParaRPr lang="en-US" sz="2800" dirty="0"/>
          </a:p>
        </p:txBody>
      </p:sp>
      <p:sp>
        <p:nvSpPr>
          <p:cNvPr id="25" name="Text 23"/>
          <p:cNvSpPr/>
          <p:nvPr/>
        </p:nvSpPr>
        <p:spPr>
          <a:xfrm>
            <a:off x="4389120" y="3355848"/>
            <a:ext cx="1920240" cy="438912"/>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Global Diabetes Market Share</a:t>
            </a:r>
            <a:endParaRPr lang="en-US" sz="1000" dirty="0"/>
          </a:p>
        </p:txBody>
      </p:sp>
      <p:sp>
        <p:nvSpPr>
          <p:cNvPr id="26" name="Shape 24"/>
          <p:cNvSpPr/>
          <p:nvPr/>
        </p:nvSpPr>
        <p:spPr>
          <a:xfrm>
            <a:off x="6400800" y="2697480"/>
            <a:ext cx="1920240" cy="1188720"/>
          </a:xfrm>
          <a:prstGeom prst="rect">
            <a:avLst/>
          </a:prstGeom>
          <a:solidFill>
            <a:srgbClr val="1A3A5C"/>
          </a:solidFill>
          <a:ln w="12700">
            <a:solidFill>
              <a:srgbClr val="1A3A5C"/>
            </a:solidFill>
            <a:prstDash val="solid"/>
          </a:ln>
        </p:spPr>
      </p:sp>
      <p:sp>
        <p:nvSpPr>
          <p:cNvPr id="27" name="Text 25"/>
          <p:cNvSpPr/>
          <p:nvPr/>
        </p:nvSpPr>
        <p:spPr>
          <a:xfrm>
            <a:off x="6400800" y="2788920"/>
            <a:ext cx="1920240" cy="594360"/>
          </a:xfrm>
          <a:prstGeom prst="rect">
            <a:avLst/>
          </a:prstGeom>
          <a:noFill/>
          <a:ln/>
        </p:spPr>
        <p:txBody>
          <a:bodyPr wrap="square" rtlCol="0" anchor="ctr"/>
          <a:lstStyle/>
          <a:p>
            <a:pPr algn="ctr" indent="0" marL="0">
              <a:buNone/>
            </a:pPr>
            <a:r>
              <a:rPr lang="en-US" sz="2800" b="1" dirty="0">
                <a:solidFill>
                  <a:srgbClr val="C8922A"/>
                </a:solidFill>
                <a:latin typeface="Cambria" pitchFamily="34" charset="0"/>
                <a:ea typeface="Cambria" pitchFamily="34" charset="-122"/>
                <a:cs typeface="Cambria" pitchFamily="34" charset="-120"/>
              </a:rPr>
              <a:t>+57%</a:t>
            </a:r>
            <a:endParaRPr lang="en-US" sz="2800" dirty="0"/>
          </a:p>
        </p:txBody>
      </p:sp>
      <p:sp>
        <p:nvSpPr>
          <p:cNvPr id="28" name="Text 26"/>
          <p:cNvSpPr/>
          <p:nvPr/>
        </p:nvSpPr>
        <p:spPr>
          <a:xfrm>
            <a:off x="6400800" y="3355848"/>
            <a:ext cx="1920240" cy="438912"/>
          </a:xfrm>
          <a:prstGeom prst="rect">
            <a:avLst/>
          </a:prstGeom>
          <a:noFill/>
          <a:ln/>
        </p:spPr>
        <p:txBody>
          <a:bodyPr wrap="square" rtlCol="0" anchor="ctr"/>
          <a:lstStyle/>
          <a:p>
            <a:pPr algn="ctr" indent="0" marL="0">
              <a:buNone/>
            </a:pPr>
            <a:r>
              <a:rPr lang="en-US" sz="1000" dirty="0">
                <a:solidFill>
                  <a:srgbClr val="AABBCC"/>
                </a:solidFill>
                <a:latin typeface="Calibri" pitchFamily="34" charset="0"/>
                <a:ea typeface="Calibri" pitchFamily="34" charset="-122"/>
                <a:cs typeface="Calibri" pitchFamily="34" charset="-120"/>
              </a:rPr>
              <a:t>Obesity Care Growth (CER)</a:t>
            </a:r>
            <a:endParaRPr lang="en-US" sz="1000" dirty="0"/>
          </a:p>
        </p:txBody>
      </p:sp>
      <p:sp>
        <p:nvSpPr>
          <p:cNvPr id="29" name="Text 27"/>
          <p:cNvSpPr/>
          <p:nvPr/>
        </p:nvSpPr>
        <p:spPr>
          <a:xfrm>
            <a:off x="365760" y="4023360"/>
            <a:ext cx="8412480" cy="365760"/>
          </a:xfrm>
          <a:prstGeom prst="rect">
            <a:avLst/>
          </a:prstGeom>
          <a:noFill/>
          <a:ln/>
        </p:spPr>
        <p:txBody>
          <a:bodyPr wrap="square" rtlCol="0" anchor="ctr"/>
          <a:lstStyle/>
          <a:p>
            <a:pPr indent="0" marL="0">
              <a:buNone/>
            </a:pPr>
            <a:r>
              <a:rPr lang="en-US" sz="1100" i="1" dirty="0">
                <a:solidFill>
                  <a:srgbClr val="8A8480"/>
                </a:solidFill>
                <a:latin typeface="Calibri" pitchFamily="34" charset="0"/>
                <a:ea typeface="Calibri" pitchFamily="34" charset="-122"/>
                <a:cs typeface="Calibri" pitchFamily="34" charset="-120"/>
              </a:rPr>
              <a:t>Founded 1923 in Denmark  ·  Europe's most valuable publicly traded company  ·  Products in ~170 countries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64592"/>
            <a:ext cx="8412480" cy="27432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SECTION B  ·  TRADE DISRUPTION ANALYSIS</a:t>
            </a:r>
            <a:endParaRPr lang="en-US" sz="900" dirty="0"/>
          </a:p>
        </p:txBody>
      </p:sp>
      <p:sp>
        <p:nvSpPr>
          <p:cNvPr id="3" name="Text 1"/>
          <p:cNvSpPr/>
          <p:nvPr/>
        </p:nvSpPr>
        <p:spPr>
          <a:xfrm>
            <a:off x="365760" y="475488"/>
            <a:ext cx="8412480" cy="68580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Three-Vector Policy Assault on Foreign Pharma</a:t>
            </a:r>
            <a:endParaRPr lang="en-US" sz="3000" dirty="0"/>
          </a:p>
        </p:txBody>
      </p:sp>
      <p:sp>
        <p:nvSpPr>
          <p:cNvPr id="4" name="Shape 2"/>
          <p:cNvSpPr/>
          <p:nvPr/>
        </p:nvSpPr>
        <p:spPr>
          <a:xfrm>
            <a:off x="365760" y="1170432"/>
            <a:ext cx="1097280" cy="45720"/>
          </a:xfrm>
          <a:prstGeom prst="rect">
            <a:avLst/>
          </a:prstGeom>
          <a:solidFill>
            <a:srgbClr val="0E8A7A"/>
          </a:solidFill>
          <a:ln w="12700">
            <a:solidFill>
              <a:srgbClr val="0E8A7A"/>
            </a:solidFill>
            <a:prstDash val="solid"/>
          </a:ln>
        </p:spPr>
      </p:sp>
      <p:sp>
        <p:nvSpPr>
          <p:cNvPr id="5" name="Shape 3"/>
          <p:cNvSpPr/>
          <p:nvPr/>
        </p:nvSpPr>
        <p:spPr>
          <a:xfrm>
            <a:off x="365760" y="1371600"/>
            <a:ext cx="457200" cy="822960"/>
          </a:xfrm>
          <a:prstGeom prst="rect">
            <a:avLst/>
          </a:prstGeom>
          <a:solidFill>
            <a:srgbClr val="C0392B"/>
          </a:solidFill>
          <a:ln w="12700">
            <a:solidFill>
              <a:srgbClr val="C0392B"/>
            </a:solidFill>
            <a:prstDash val="solid"/>
          </a:ln>
        </p:spPr>
      </p:sp>
      <p:sp>
        <p:nvSpPr>
          <p:cNvPr id="6" name="Text 4"/>
          <p:cNvSpPr/>
          <p:nvPr/>
        </p:nvSpPr>
        <p:spPr>
          <a:xfrm>
            <a:off x="365760" y="1508760"/>
            <a:ext cx="45720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7" name="Text 5"/>
          <p:cNvSpPr/>
          <p:nvPr/>
        </p:nvSpPr>
        <p:spPr>
          <a:xfrm>
            <a:off x="960120" y="1389888"/>
            <a:ext cx="7772400" cy="237744"/>
          </a:xfrm>
          <a:prstGeom prst="rect">
            <a:avLst/>
          </a:prstGeom>
          <a:noFill/>
          <a:ln/>
        </p:spPr>
        <p:txBody>
          <a:bodyPr wrap="square" rtlCol="0" anchor="ctr"/>
          <a:lstStyle/>
          <a:p>
            <a:pPr indent="0" marL="0">
              <a:buNone/>
            </a:pPr>
            <a:r>
              <a:rPr lang="en-US" sz="900" b="1" spc="100" kern="0" dirty="0">
                <a:solidFill>
                  <a:srgbClr val="14B8A6"/>
                </a:solidFill>
                <a:latin typeface="Calibri" pitchFamily="34" charset="0"/>
                <a:ea typeface="Calibri" pitchFamily="34" charset="-122"/>
                <a:cs typeface="Calibri" pitchFamily="34" charset="-120"/>
              </a:rPr>
              <a:t>Sept 2025 — Oct 1 Deadline</a:t>
            </a:r>
            <a:endParaRPr lang="en-US" sz="900" dirty="0"/>
          </a:p>
        </p:txBody>
      </p:sp>
      <p:sp>
        <p:nvSpPr>
          <p:cNvPr id="8" name="Text 6"/>
          <p:cNvSpPr/>
          <p:nvPr/>
        </p:nvSpPr>
        <p:spPr>
          <a:xfrm>
            <a:off x="960120" y="1591056"/>
            <a:ext cx="7772400" cy="2743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100% Pharmaceutical Import Tariffs</a:t>
            </a:r>
            <a:endParaRPr lang="en-US" sz="1400" dirty="0"/>
          </a:p>
        </p:txBody>
      </p:sp>
      <p:sp>
        <p:nvSpPr>
          <p:cNvPr id="9" name="Text 7"/>
          <p:cNvSpPr/>
          <p:nvPr/>
        </p:nvSpPr>
        <p:spPr>
          <a:xfrm>
            <a:off x="960120" y="1865376"/>
            <a:ext cx="7772400" cy="347472"/>
          </a:xfrm>
          <a:prstGeom prst="rect">
            <a:avLst/>
          </a:prstGeom>
          <a:noFill/>
          <a:ln/>
        </p:spPr>
        <p:txBody>
          <a:bodyPr wrap="square" rtlCol="0" anchor="ctr"/>
          <a:lstStyle/>
          <a:p>
            <a:pPr indent="0" marL="0">
              <a:buNone/>
            </a:pPr>
            <a:r>
              <a:rPr lang="en-US" sz="1000" dirty="0">
                <a:solidFill>
                  <a:srgbClr val="BBCCDD"/>
                </a:solidFill>
                <a:latin typeface="Calibri" pitchFamily="34" charset="0"/>
                <a:ea typeface="Calibri" pitchFamily="34" charset="-122"/>
                <a:cs typeface="Calibri" pitchFamily="34" charset="-120"/>
              </a:rPr>
              <a:t>Would double the landed cost of Novo Nordisk's Danish and French-produced drugs in the U.S. overnight, making Ozempic and Wegovy economically uncompetitive.</a:t>
            </a:r>
            <a:endParaRPr lang="en-US" sz="1000" dirty="0"/>
          </a:p>
        </p:txBody>
      </p:sp>
      <p:sp>
        <p:nvSpPr>
          <p:cNvPr id="10" name="Shape 8"/>
          <p:cNvSpPr/>
          <p:nvPr/>
        </p:nvSpPr>
        <p:spPr>
          <a:xfrm>
            <a:off x="365760" y="2468880"/>
            <a:ext cx="457200" cy="822960"/>
          </a:xfrm>
          <a:prstGeom prst="rect">
            <a:avLst/>
          </a:prstGeom>
          <a:solidFill>
            <a:srgbClr val="C8922A"/>
          </a:solidFill>
          <a:ln w="12700">
            <a:solidFill>
              <a:srgbClr val="C8922A"/>
            </a:solidFill>
            <a:prstDash val="solid"/>
          </a:ln>
        </p:spPr>
      </p:sp>
      <p:sp>
        <p:nvSpPr>
          <p:cNvPr id="11" name="Text 9"/>
          <p:cNvSpPr/>
          <p:nvPr/>
        </p:nvSpPr>
        <p:spPr>
          <a:xfrm>
            <a:off x="365760" y="2606040"/>
            <a:ext cx="45720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2" name="Text 10"/>
          <p:cNvSpPr/>
          <p:nvPr/>
        </p:nvSpPr>
        <p:spPr>
          <a:xfrm>
            <a:off x="960120" y="2487168"/>
            <a:ext cx="7772400" cy="237744"/>
          </a:xfrm>
          <a:prstGeom prst="rect">
            <a:avLst/>
          </a:prstGeom>
          <a:noFill/>
          <a:ln/>
        </p:spPr>
        <p:txBody>
          <a:bodyPr wrap="square" rtlCol="0" anchor="ctr"/>
          <a:lstStyle/>
          <a:p>
            <a:pPr indent="0" marL="0">
              <a:buNone/>
            </a:pPr>
            <a:r>
              <a:rPr lang="en-US" sz="900" b="1" spc="100" kern="0" dirty="0">
                <a:solidFill>
                  <a:srgbClr val="14B8A6"/>
                </a:solidFill>
                <a:latin typeface="Calibri" pitchFamily="34" charset="0"/>
                <a:ea typeface="Calibri" pitchFamily="34" charset="-122"/>
                <a:cs typeface="Calibri" pitchFamily="34" charset="-120"/>
              </a:rPr>
              <a:t>Nov 2025 — Executive Order</a:t>
            </a:r>
            <a:endParaRPr lang="en-US" sz="900" dirty="0"/>
          </a:p>
        </p:txBody>
      </p:sp>
      <p:sp>
        <p:nvSpPr>
          <p:cNvPr id="13" name="Text 11"/>
          <p:cNvSpPr/>
          <p:nvPr/>
        </p:nvSpPr>
        <p:spPr>
          <a:xfrm>
            <a:off x="960120" y="2688336"/>
            <a:ext cx="7772400" cy="2743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Most Favored Nation (MFN) Pricing</a:t>
            </a:r>
            <a:endParaRPr lang="en-US" sz="1400" dirty="0"/>
          </a:p>
        </p:txBody>
      </p:sp>
      <p:sp>
        <p:nvSpPr>
          <p:cNvPr id="14" name="Text 12"/>
          <p:cNvSpPr/>
          <p:nvPr/>
        </p:nvSpPr>
        <p:spPr>
          <a:xfrm>
            <a:off x="960120" y="2962656"/>
            <a:ext cx="7772400" cy="347472"/>
          </a:xfrm>
          <a:prstGeom prst="rect">
            <a:avLst/>
          </a:prstGeom>
          <a:noFill/>
          <a:ln/>
        </p:spPr>
        <p:txBody>
          <a:bodyPr wrap="square" rtlCol="0" anchor="ctr"/>
          <a:lstStyle/>
          <a:p>
            <a:pPr indent="0" marL="0">
              <a:buNone/>
            </a:pPr>
            <a:r>
              <a:rPr lang="en-US" sz="1000" dirty="0">
                <a:solidFill>
                  <a:srgbClr val="BBCCDD"/>
                </a:solidFill>
                <a:latin typeface="Calibri" pitchFamily="34" charset="0"/>
                <a:ea typeface="Calibri" pitchFamily="34" charset="-122"/>
                <a:cs typeface="Calibri" pitchFamily="34" charset="-120"/>
              </a:rPr>
              <a:t>Mandated that U.S. government programs pay no more than the lowest international price — threatening to compress government-program margins by up to 82%.</a:t>
            </a:r>
            <a:endParaRPr lang="en-US" sz="1000" dirty="0"/>
          </a:p>
        </p:txBody>
      </p:sp>
      <p:sp>
        <p:nvSpPr>
          <p:cNvPr id="15" name="Shape 13"/>
          <p:cNvSpPr/>
          <p:nvPr/>
        </p:nvSpPr>
        <p:spPr>
          <a:xfrm>
            <a:off x="365760" y="3566160"/>
            <a:ext cx="457200" cy="822960"/>
          </a:xfrm>
          <a:prstGeom prst="rect">
            <a:avLst/>
          </a:prstGeom>
          <a:solidFill>
            <a:srgbClr val="1A3A5C"/>
          </a:solidFill>
          <a:ln w="12700">
            <a:solidFill>
              <a:srgbClr val="1A3A5C"/>
            </a:solidFill>
            <a:prstDash val="solid"/>
          </a:ln>
        </p:spPr>
      </p:sp>
      <p:sp>
        <p:nvSpPr>
          <p:cNvPr id="16" name="Text 14"/>
          <p:cNvSpPr/>
          <p:nvPr/>
        </p:nvSpPr>
        <p:spPr>
          <a:xfrm>
            <a:off x="365760" y="3703320"/>
            <a:ext cx="45720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7" name="Text 15"/>
          <p:cNvSpPr/>
          <p:nvPr/>
        </p:nvSpPr>
        <p:spPr>
          <a:xfrm>
            <a:off x="960120" y="3584448"/>
            <a:ext cx="7772400" cy="237744"/>
          </a:xfrm>
          <a:prstGeom prst="rect">
            <a:avLst/>
          </a:prstGeom>
          <a:noFill/>
          <a:ln/>
        </p:spPr>
        <p:txBody>
          <a:bodyPr wrap="square" rtlCol="0" anchor="ctr"/>
          <a:lstStyle/>
          <a:p>
            <a:pPr indent="0" marL="0">
              <a:buNone/>
            </a:pPr>
            <a:r>
              <a:rPr lang="en-US" sz="900" b="1" spc="100" kern="0" dirty="0">
                <a:solidFill>
                  <a:srgbClr val="14B8A6"/>
                </a:solidFill>
                <a:latin typeface="Calibri" pitchFamily="34" charset="0"/>
                <a:ea typeface="Calibri" pitchFamily="34" charset="-122"/>
                <a:cs typeface="Calibri" pitchFamily="34" charset="-120"/>
              </a:rPr>
              <a:t>2025 — Ongoing</a:t>
            </a:r>
            <a:endParaRPr lang="en-US" sz="900" dirty="0"/>
          </a:p>
        </p:txBody>
      </p:sp>
      <p:sp>
        <p:nvSpPr>
          <p:cNvPr id="18" name="Text 16"/>
          <p:cNvSpPr/>
          <p:nvPr/>
        </p:nvSpPr>
        <p:spPr>
          <a:xfrm>
            <a:off x="960120" y="3785616"/>
            <a:ext cx="7772400" cy="27432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HHS Ideological Opposition (RFK Jr.)</a:t>
            </a:r>
            <a:endParaRPr lang="en-US" sz="1400" dirty="0"/>
          </a:p>
        </p:txBody>
      </p:sp>
      <p:sp>
        <p:nvSpPr>
          <p:cNvPr id="19" name="Text 17"/>
          <p:cNvSpPr/>
          <p:nvPr/>
        </p:nvSpPr>
        <p:spPr>
          <a:xfrm>
            <a:off x="960120" y="4059936"/>
            <a:ext cx="7772400" cy="347472"/>
          </a:xfrm>
          <a:prstGeom prst="rect">
            <a:avLst/>
          </a:prstGeom>
          <a:noFill/>
          <a:ln/>
        </p:spPr>
        <p:txBody>
          <a:bodyPr wrap="square" rtlCol="0" anchor="ctr"/>
          <a:lstStyle/>
          <a:p>
            <a:pPr indent="0" marL="0">
              <a:buNone/>
            </a:pPr>
            <a:r>
              <a:rPr lang="en-US" sz="1000" dirty="0">
                <a:solidFill>
                  <a:srgbClr val="BBCCDD"/>
                </a:solidFill>
                <a:latin typeface="Calibri" pitchFamily="34" charset="0"/>
                <a:ea typeface="Calibri" pitchFamily="34" charset="-122"/>
                <a:cs typeface="Calibri" pitchFamily="34" charset="-120"/>
              </a:rPr>
              <a:t>Secretary Kennedy's public criticism of GLP-1s as "lifestyle drugs" created uncertainty around FDA approvals, CMS coverage, and broader public perception.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F0"/>
        </a:solidFill>
      </p:bgPr>
    </p:bg>
    <p:spTree>
      <p:nvGrpSpPr>
        <p:cNvPr id="1" name=""/>
        <p:cNvGrpSpPr/>
        <p:nvPr/>
      </p:nvGrpSpPr>
      <p:grpSpPr>
        <a:xfrm>
          <a:off x="0" y="0"/>
          <a:ext cx="0" cy="0"/>
          <a:chOff x="0" y="0"/>
          <a:chExt cx="0" cy="0"/>
        </a:xfrm>
      </p:grpSpPr>
      <p:sp>
        <p:nvSpPr>
          <p:cNvPr id="2" name="Text 0"/>
          <p:cNvSpPr/>
          <p:nvPr/>
        </p:nvSpPr>
        <p:spPr>
          <a:xfrm>
            <a:off x="365760" y="164592"/>
            <a:ext cx="8412480" cy="274320"/>
          </a:xfrm>
          <a:prstGeom prst="rect">
            <a:avLst/>
          </a:prstGeom>
          <a:noFill/>
          <a:ln/>
        </p:spPr>
        <p:txBody>
          <a:bodyPr wrap="square" rtlCol="0" anchor="ctr"/>
          <a:lstStyle/>
          <a:p>
            <a:pPr indent="0" marL="0">
              <a:buNone/>
            </a:pPr>
            <a:r>
              <a:rPr lang="en-US" sz="900" b="1" spc="400" kern="0" dirty="0">
                <a:solidFill>
                  <a:srgbClr val="0E8A7A"/>
                </a:solidFill>
                <a:latin typeface="Calibri" pitchFamily="34" charset="0"/>
                <a:ea typeface="Calibri" pitchFamily="34" charset="-122"/>
                <a:cs typeface="Calibri" pitchFamily="34" charset="-120"/>
              </a:rPr>
              <a:t>SECTION C  ·  CHALLENGE IDENTIFICATION</a:t>
            </a:r>
            <a:endParaRPr lang="en-US" sz="900" dirty="0"/>
          </a:p>
        </p:txBody>
      </p:sp>
      <p:sp>
        <p:nvSpPr>
          <p:cNvPr id="3" name="Text 1"/>
          <p:cNvSpPr/>
          <p:nvPr/>
        </p:nvSpPr>
        <p:spPr>
          <a:xfrm>
            <a:off x="365760" y="475488"/>
            <a:ext cx="8412480" cy="594360"/>
          </a:xfrm>
          <a:prstGeom prst="rect">
            <a:avLst/>
          </a:prstGeom>
          <a:noFill/>
          <a:ln/>
        </p:spPr>
        <p:txBody>
          <a:bodyPr wrap="square" rtlCol="0" anchor="ctr"/>
          <a:lstStyle/>
          <a:p>
            <a:pPr indent="0" marL="0">
              <a:buNone/>
            </a:pPr>
            <a:r>
              <a:rPr lang="en-US" sz="3000" b="1" dirty="0">
                <a:solidFill>
                  <a:srgbClr val="0F2744"/>
                </a:solidFill>
                <a:latin typeface="Cambria" pitchFamily="34" charset="0"/>
                <a:ea typeface="Cambria" pitchFamily="34" charset="-122"/>
                <a:cs typeface="Cambria" pitchFamily="34" charset="-120"/>
              </a:rPr>
              <a:t>Two Major Trade-Related Challenges</a:t>
            </a:r>
            <a:endParaRPr lang="en-US" sz="3000" dirty="0"/>
          </a:p>
        </p:txBody>
      </p:sp>
      <p:sp>
        <p:nvSpPr>
          <p:cNvPr id="4" name="Shape 2"/>
          <p:cNvSpPr/>
          <p:nvPr/>
        </p:nvSpPr>
        <p:spPr>
          <a:xfrm>
            <a:off x="365760" y="1115568"/>
            <a:ext cx="1097280" cy="45720"/>
          </a:xfrm>
          <a:prstGeom prst="rect">
            <a:avLst/>
          </a:prstGeom>
          <a:solidFill>
            <a:srgbClr val="0E8A7A"/>
          </a:solidFill>
          <a:ln w="12700">
            <a:solidFill>
              <a:srgbClr val="0E8A7A"/>
            </a:solidFill>
            <a:prstDash val="solid"/>
          </a:ln>
        </p:spPr>
      </p:sp>
      <p:sp>
        <p:nvSpPr>
          <p:cNvPr id="5" name="Shape 3"/>
          <p:cNvSpPr/>
          <p:nvPr/>
        </p:nvSpPr>
        <p:spPr>
          <a:xfrm>
            <a:off x="365760" y="1280160"/>
            <a:ext cx="4023360" cy="3200400"/>
          </a:xfrm>
          <a:prstGeom prst="rect">
            <a:avLst/>
          </a:prstGeom>
          <a:solidFill>
            <a:srgbClr val="0F2744"/>
          </a:solidFill>
          <a:ln w="12700">
            <a:solidFill>
              <a:srgbClr val="0F2744"/>
            </a:solidFill>
            <a:prstDash val="solid"/>
          </a:ln>
        </p:spPr>
      </p:sp>
      <p:sp>
        <p:nvSpPr>
          <p:cNvPr id="6" name="Shape 4"/>
          <p:cNvSpPr/>
          <p:nvPr/>
        </p:nvSpPr>
        <p:spPr>
          <a:xfrm>
            <a:off x="365760" y="1280160"/>
            <a:ext cx="4023360" cy="73152"/>
          </a:xfrm>
          <a:prstGeom prst="rect">
            <a:avLst/>
          </a:prstGeom>
          <a:solidFill>
            <a:srgbClr val="C0392B"/>
          </a:solidFill>
          <a:ln w="12700">
            <a:solidFill>
              <a:srgbClr val="C0392B"/>
            </a:solidFill>
            <a:prstDash val="solid"/>
          </a:ln>
        </p:spPr>
      </p:sp>
      <p:sp>
        <p:nvSpPr>
          <p:cNvPr id="7" name="Text 5"/>
          <p:cNvSpPr/>
          <p:nvPr/>
        </p:nvSpPr>
        <p:spPr>
          <a:xfrm>
            <a:off x="502920" y="1371600"/>
            <a:ext cx="3749040" cy="256032"/>
          </a:xfrm>
          <a:prstGeom prst="rect">
            <a:avLst/>
          </a:prstGeom>
          <a:noFill/>
          <a:ln/>
        </p:spPr>
        <p:txBody>
          <a:bodyPr wrap="square" rtlCol="0" anchor="ctr"/>
          <a:lstStyle/>
          <a:p>
            <a:pPr indent="0" marL="0">
              <a:buNone/>
            </a:pPr>
            <a:r>
              <a:rPr lang="en-US" sz="900" b="1" spc="200" kern="0" dirty="0">
                <a:solidFill>
                  <a:srgbClr val="C0392B"/>
                </a:solidFill>
                <a:latin typeface="Calibri" pitchFamily="34" charset="0"/>
                <a:ea typeface="Calibri" pitchFamily="34" charset="-122"/>
                <a:cs typeface="Calibri" pitchFamily="34" charset="-120"/>
              </a:rPr>
              <a:t>CHALLENGE 1</a:t>
            </a:r>
            <a:endParaRPr lang="en-US" sz="900" dirty="0"/>
          </a:p>
        </p:txBody>
      </p:sp>
      <p:sp>
        <p:nvSpPr>
          <p:cNvPr id="8" name="Text 6"/>
          <p:cNvSpPr/>
          <p:nvPr/>
        </p:nvSpPr>
        <p:spPr>
          <a:xfrm>
            <a:off x="502920" y="1627632"/>
            <a:ext cx="3749040" cy="73152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Tariff Exposure &amp;</a:t>
            </a:r>
            <a:endParaRPr lang="en-US" sz="1800" dirty="0"/>
          </a:p>
          <a:p>
            <a:pPr indent="0" marL="0">
              <a:buNone/>
            </a:pPr>
            <a:r>
              <a:rPr lang="en-US" sz="1800" b="1" dirty="0">
                <a:solidFill>
                  <a:srgbClr val="FFFFFF"/>
                </a:solidFill>
                <a:latin typeface="Cambria" pitchFamily="34" charset="0"/>
                <a:ea typeface="Cambria" pitchFamily="34" charset="-122"/>
                <a:cs typeface="Cambria" pitchFamily="34" charset="-120"/>
              </a:rPr>
              <a:t>Government Pricing Pressure</a:t>
            </a:r>
            <a:endParaRPr lang="en-US" sz="1800" dirty="0"/>
          </a:p>
        </p:txBody>
      </p:sp>
      <p:sp>
        <p:nvSpPr>
          <p:cNvPr id="9" name="Text 7"/>
          <p:cNvSpPr/>
          <p:nvPr/>
        </p:nvSpPr>
        <p:spPr>
          <a:xfrm>
            <a:off x="502920" y="2423160"/>
            <a:ext cx="3749040" cy="1920240"/>
          </a:xfrm>
          <a:prstGeom prst="rect">
            <a:avLst/>
          </a:prstGeom>
          <a:noFill/>
          <a:ln/>
        </p:spPr>
        <p:txBody>
          <a:bodyPr wrap="square" rtlCol="0" anchor="ctr"/>
          <a:lstStyle/>
          <a:p>
            <a:pPr indent="0" marL="0">
              <a:lnSpc>
                <a:spcPct val="140000"/>
              </a:lnSpc>
              <a:buNone/>
            </a:pPr>
            <a:r>
              <a:rPr lang="en-US" sz="1100" dirty="0">
                <a:solidFill>
                  <a:srgbClr val="BBCCDD"/>
                </a:solidFill>
                <a:latin typeface="Calibri" pitchFamily="34" charset="0"/>
                <a:ea typeface="Calibri" pitchFamily="34" charset="-122"/>
                <a:cs typeface="Calibri" pitchFamily="34" charset="-120"/>
              </a:rPr>
              <a:t>• 100% tariff would double landed cost of all European-made products
</a:t>
            </a:r>
            <a:pPr indent="0" marL="0">
              <a:lnSpc>
                <a:spcPct val="140000"/>
              </a:lnSpc>
              <a:buNone/>
            </a:pPr>
            <a:r>
              <a:rPr lang="en-US" sz="1100" dirty="0">
                <a:solidFill>
                  <a:srgbClr val="BBCCDD"/>
                </a:solidFill>
                <a:latin typeface="Calibri" pitchFamily="34" charset="0"/>
                <a:ea typeface="Calibri" pitchFamily="34" charset="-122"/>
                <a:cs typeface="Calibri" pitchFamily="34" charset="-120"/>
              </a:rPr>
              <a:t>• MFN requirements threaten up to 82% margin cuts on government programs
</a:t>
            </a:r>
            <a:pPr indent="0" marL="0">
              <a:lnSpc>
                <a:spcPct val="140000"/>
              </a:lnSpc>
              <a:buNone/>
            </a:pPr>
            <a:r>
              <a:rPr lang="en-US" sz="1100" dirty="0">
                <a:solidFill>
                  <a:srgbClr val="BBCCDD"/>
                </a:solidFill>
                <a:latin typeface="Calibri" pitchFamily="34" charset="0"/>
                <a:ea typeface="Calibri" pitchFamily="34" charset="-122"/>
                <a:cs typeface="Calibri" pitchFamily="34" charset="-120"/>
              </a:rPr>
              <a:t>• ~50% of global revenue at risk simultaneously
</a:t>
            </a:r>
            <a:pPr indent="0" marL="0">
              <a:lnSpc>
                <a:spcPct val="140000"/>
              </a:lnSpc>
              <a:buNone/>
            </a:pPr>
            <a:r>
              <a:rPr lang="en-US" sz="1100" dirty="0">
                <a:solidFill>
                  <a:srgbClr val="BBCCDD"/>
                </a:solidFill>
                <a:latin typeface="Calibri" pitchFamily="34" charset="0"/>
                <a:ea typeface="Calibri" pitchFamily="34" charset="-122"/>
                <a:cs typeface="Calibri" pitchFamily="34" charset="-120"/>
              </a:rPr>
              <a:t>• DKK 80B+ expansion already underway before disruption hit</a:t>
            </a:r>
            <a:endParaRPr lang="en-US" sz="1100" dirty="0"/>
          </a:p>
        </p:txBody>
      </p:sp>
      <p:sp>
        <p:nvSpPr>
          <p:cNvPr id="10" name="Shape 8"/>
          <p:cNvSpPr/>
          <p:nvPr/>
        </p:nvSpPr>
        <p:spPr>
          <a:xfrm>
            <a:off x="4754880" y="1280160"/>
            <a:ext cx="4023360" cy="3200400"/>
          </a:xfrm>
          <a:prstGeom prst="rect">
            <a:avLst/>
          </a:prstGeom>
          <a:solidFill>
            <a:srgbClr val="0F2744"/>
          </a:solidFill>
          <a:ln w="12700">
            <a:solidFill>
              <a:srgbClr val="0F2744"/>
            </a:solidFill>
            <a:prstDash val="solid"/>
          </a:ln>
        </p:spPr>
      </p:sp>
      <p:sp>
        <p:nvSpPr>
          <p:cNvPr id="11" name="Shape 9"/>
          <p:cNvSpPr/>
          <p:nvPr/>
        </p:nvSpPr>
        <p:spPr>
          <a:xfrm>
            <a:off x="4754880" y="1280160"/>
            <a:ext cx="4023360" cy="73152"/>
          </a:xfrm>
          <a:prstGeom prst="rect">
            <a:avLst/>
          </a:prstGeom>
          <a:solidFill>
            <a:srgbClr val="C8922A"/>
          </a:solidFill>
          <a:ln w="12700">
            <a:solidFill>
              <a:srgbClr val="C8922A"/>
            </a:solidFill>
            <a:prstDash val="solid"/>
          </a:ln>
        </p:spPr>
      </p:sp>
      <p:sp>
        <p:nvSpPr>
          <p:cNvPr id="12" name="Text 10"/>
          <p:cNvSpPr/>
          <p:nvPr/>
        </p:nvSpPr>
        <p:spPr>
          <a:xfrm>
            <a:off x="4892040" y="1371600"/>
            <a:ext cx="3749040" cy="256032"/>
          </a:xfrm>
          <a:prstGeom prst="rect">
            <a:avLst/>
          </a:prstGeom>
          <a:noFill/>
          <a:ln/>
        </p:spPr>
        <p:txBody>
          <a:bodyPr wrap="square" rtlCol="0" anchor="ctr"/>
          <a:lstStyle/>
          <a:p>
            <a:pPr indent="0" marL="0">
              <a:buNone/>
            </a:pPr>
            <a:r>
              <a:rPr lang="en-US" sz="900" b="1" spc="200" kern="0" dirty="0">
                <a:solidFill>
                  <a:srgbClr val="C8922A"/>
                </a:solidFill>
                <a:latin typeface="Calibri" pitchFamily="34" charset="0"/>
                <a:ea typeface="Calibri" pitchFamily="34" charset="-122"/>
                <a:cs typeface="Calibri" pitchFamily="34" charset="-120"/>
              </a:rPr>
              <a:t>CHALLENGE 2</a:t>
            </a:r>
            <a:endParaRPr lang="en-US" sz="900" dirty="0"/>
          </a:p>
        </p:txBody>
      </p:sp>
      <p:sp>
        <p:nvSpPr>
          <p:cNvPr id="13" name="Text 11"/>
          <p:cNvSpPr/>
          <p:nvPr/>
        </p:nvSpPr>
        <p:spPr>
          <a:xfrm>
            <a:off x="4892040" y="1627632"/>
            <a:ext cx="3749040" cy="73152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Competitive Disruption:</a:t>
            </a:r>
            <a:endParaRPr lang="en-US" sz="1800" dirty="0"/>
          </a:p>
          <a:p>
            <a:pPr indent="0" marL="0">
              <a:buNone/>
            </a:pPr>
            <a:r>
              <a:rPr lang="en-US" sz="1800" b="1" dirty="0">
                <a:solidFill>
                  <a:srgbClr val="FFFFFF"/>
                </a:solidFill>
                <a:latin typeface="Cambria" pitchFamily="34" charset="0"/>
                <a:ea typeface="Cambria" pitchFamily="34" charset="-122"/>
                <a:cs typeface="Cambria" pitchFamily="34" charset="-120"/>
              </a:rPr>
              <a:t>Eli Lilly &amp; Compounders</a:t>
            </a:r>
            <a:endParaRPr lang="en-US" sz="1800" dirty="0"/>
          </a:p>
        </p:txBody>
      </p:sp>
      <p:sp>
        <p:nvSpPr>
          <p:cNvPr id="14" name="Text 12"/>
          <p:cNvSpPr/>
          <p:nvPr/>
        </p:nvSpPr>
        <p:spPr>
          <a:xfrm>
            <a:off x="4892040" y="2423160"/>
            <a:ext cx="3749040" cy="1920240"/>
          </a:xfrm>
          <a:prstGeom prst="rect">
            <a:avLst/>
          </a:prstGeom>
          <a:noFill/>
          <a:ln/>
        </p:spPr>
        <p:txBody>
          <a:bodyPr wrap="square" rtlCol="0" anchor="ctr"/>
          <a:lstStyle/>
          <a:p>
            <a:pPr indent="0" marL="0">
              <a:lnSpc>
                <a:spcPct val="140000"/>
              </a:lnSpc>
              <a:buNone/>
            </a:pPr>
            <a:r>
              <a:rPr lang="en-US" sz="1100" dirty="0">
                <a:solidFill>
                  <a:srgbClr val="BBCCDD"/>
                </a:solidFill>
                <a:latin typeface="Calibri" pitchFamily="34" charset="0"/>
                <a:ea typeface="Calibri" pitchFamily="34" charset="-122"/>
                <a:cs typeface="Calibri" pitchFamily="34" charset="-120"/>
              </a:rPr>
              <a:t>• Eli Lilly's Mounjaro manufactured domestically — immune to tariff exposure
</a:t>
            </a:r>
            <a:pPr indent="0" marL="0">
              <a:lnSpc>
                <a:spcPct val="140000"/>
              </a:lnSpc>
              <a:buNone/>
            </a:pPr>
            <a:r>
              <a:rPr lang="en-US" sz="1100" dirty="0">
                <a:solidFill>
                  <a:srgbClr val="BBCCDD"/>
                </a:solidFill>
                <a:latin typeface="Calibri" pitchFamily="34" charset="0"/>
                <a:ea typeface="Calibri" pitchFamily="34" charset="-122"/>
                <a:cs typeface="Calibri" pitchFamily="34" charset="-120"/>
              </a:rPr>
              <a:t>• Clinical data shows Zepbound comparable or superior in some trials
</a:t>
            </a:r>
            <a:pPr indent="0" marL="0">
              <a:lnSpc>
                <a:spcPct val="140000"/>
              </a:lnSpc>
              <a:buNone/>
            </a:pPr>
            <a:r>
              <a:rPr lang="en-US" sz="1100" dirty="0">
                <a:solidFill>
                  <a:srgbClr val="BBCCDD"/>
                </a:solidFill>
                <a:latin typeface="Calibri" pitchFamily="34" charset="0"/>
                <a:ea typeface="Calibri" pitchFamily="34" charset="-122"/>
                <a:cs typeface="Calibri" pitchFamily="34" charset="-120"/>
              </a:rPr>
              <a:t>• Compounding pharmacies producing unauthorized generics during shortages
</a:t>
            </a:r>
            <a:pPr indent="0" marL="0">
              <a:lnSpc>
                <a:spcPct val="140000"/>
              </a:lnSpc>
              <a:buNone/>
            </a:pPr>
            <a:r>
              <a:rPr lang="en-US" sz="1100" dirty="0">
                <a:solidFill>
                  <a:srgbClr val="BBCCDD"/>
                </a:solidFill>
                <a:latin typeface="Calibri" pitchFamily="34" charset="0"/>
                <a:ea typeface="Calibri" pitchFamily="34" charset="-122"/>
                <a:cs typeface="Calibri" pitchFamily="34" charset="-120"/>
              </a:rPr>
              <a:t>• RFK Jr. opposition may suppress overall GLP-1 demand market-wide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64592"/>
            <a:ext cx="8412480" cy="27432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SECTION D  ·  STRATEGIC SOLUTIONS  ·  CHALLENGE 1</a:t>
            </a:r>
            <a:endParaRPr lang="en-US" sz="900" dirty="0"/>
          </a:p>
        </p:txBody>
      </p:sp>
      <p:sp>
        <p:nvSpPr>
          <p:cNvPr id="3" name="Text 1"/>
          <p:cNvSpPr/>
          <p:nvPr/>
        </p:nvSpPr>
        <p:spPr>
          <a:xfrm>
            <a:off x="365760" y="475488"/>
            <a:ext cx="8412480" cy="68580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Tariff Exposure: Decision Table</a:t>
            </a:r>
            <a:endParaRPr lang="en-US" sz="3000" dirty="0"/>
          </a:p>
        </p:txBody>
      </p:sp>
      <p:sp>
        <p:nvSpPr>
          <p:cNvPr id="4" name="Shape 2"/>
          <p:cNvSpPr/>
          <p:nvPr/>
        </p:nvSpPr>
        <p:spPr>
          <a:xfrm>
            <a:off x="365760" y="1170432"/>
            <a:ext cx="1097280" cy="45720"/>
          </a:xfrm>
          <a:prstGeom prst="rect">
            <a:avLst/>
          </a:prstGeom>
          <a:solidFill>
            <a:srgbClr val="0E8A7A"/>
          </a:solidFill>
          <a:ln w="12700">
            <a:solidFill>
              <a:srgbClr val="0E8A7A"/>
            </a:solidFill>
            <a:prstDash val="solid"/>
          </a:ln>
        </p:spPr>
      </p:sp>
      <p:sp>
        <p:nvSpPr>
          <p:cNvPr id="5" name="Shape 3"/>
          <p:cNvSpPr/>
          <p:nvPr/>
        </p:nvSpPr>
        <p:spPr>
          <a:xfrm>
            <a:off x="365760" y="1325880"/>
            <a:ext cx="1097280" cy="329184"/>
          </a:xfrm>
          <a:prstGeom prst="rect">
            <a:avLst/>
          </a:prstGeom>
          <a:solidFill>
            <a:srgbClr val="1A3A5C"/>
          </a:solidFill>
          <a:ln w="6350">
            <a:solidFill>
              <a:srgbClr val="0A1E35"/>
            </a:solidFill>
            <a:prstDash val="solid"/>
          </a:ln>
        </p:spPr>
      </p:sp>
      <p:sp>
        <p:nvSpPr>
          <p:cNvPr id="6" name="Text 4"/>
          <p:cNvSpPr/>
          <p:nvPr/>
        </p:nvSpPr>
        <p:spPr>
          <a:xfrm>
            <a:off x="438912" y="1362456"/>
            <a:ext cx="950976" cy="256032"/>
          </a:xfrm>
          <a:prstGeom prst="rect">
            <a:avLst/>
          </a:prstGeom>
          <a:noFill/>
          <a:ln/>
        </p:spPr>
        <p:txBody>
          <a:bodyPr wrap="square" rtlCol="0" anchor="t"/>
          <a:lstStyle/>
          <a:p>
            <a:pPr indent="0" marL="0">
              <a:buNone/>
            </a:pPr>
            <a:endParaRPr lang="en-US" sz="1000" dirty="0"/>
          </a:p>
        </p:txBody>
      </p:sp>
      <p:sp>
        <p:nvSpPr>
          <p:cNvPr id="7" name="Shape 5"/>
          <p:cNvSpPr/>
          <p:nvPr/>
        </p:nvSpPr>
        <p:spPr>
          <a:xfrm>
            <a:off x="1463040" y="1325880"/>
            <a:ext cx="3657600" cy="329184"/>
          </a:xfrm>
          <a:prstGeom prst="rect">
            <a:avLst/>
          </a:prstGeom>
          <a:solidFill>
            <a:srgbClr val="1A3A5C"/>
          </a:solidFill>
          <a:ln w="6350">
            <a:solidFill>
              <a:srgbClr val="0A1E35"/>
            </a:solidFill>
            <a:prstDash val="solid"/>
          </a:ln>
        </p:spPr>
      </p:sp>
      <p:sp>
        <p:nvSpPr>
          <p:cNvPr id="8" name="Text 6"/>
          <p:cNvSpPr/>
          <p:nvPr/>
        </p:nvSpPr>
        <p:spPr>
          <a:xfrm>
            <a:off x="1536192" y="1362456"/>
            <a:ext cx="3511296" cy="256032"/>
          </a:xfrm>
          <a:prstGeom prst="rect">
            <a:avLst/>
          </a:prstGeom>
          <a:noFill/>
          <a:ln/>
        </p:spPr>
        <p:txBody>
          <a:bodyPr wrap="square" rtlCol="0" anchor="t"/>
          <a:lstStyle/>
          <a:p>
            <a:pPr indent="0" marL="0">
              <a:buNone/>
            </a:pPr>
            <a:r>
              <a:rPr lang="en-US" sz="1000" b="1" dirty="0">
                <a:solidFill>
                  <a:srgbClr val="14B8A6"/>
                </a:solidFill>
                <a:latin typeface="Calibri" pitchFamily="34" charset="0"/>
                <a:ea typeface="Calibri" pitchFamily="34" charset="-122"/>
                <a:cs typeface="Calibri" pitchFamily="34" charset="-120"/>
              </a:rPr>
              <a:t>Solution A: Negotiate &amp; Accept Price Concessions</a:t>
            </a:r>
            <a:endParaRPr lang="en-US" sz="1000" dirty="0"/>
          </a:p>
        </p:txBody>
      </p:sp>
      <p:sp>
        <p:nvSpPr>
          <p:cNvPr id="9" name="Shape 7"/>
          <p:cNvSpPr/>
          <p:nvPr/>
        </p:nvSpPr>
        <p:spPr>
          <a:xfrm>
            <a:off x="5120640" y="1325880"/>
            <a:ext cx="3657600" cy="329184"/>
          </a:xfrm>
          <a:prstGeom prst="rect">
            <a:avLst/>
          </a:prstGeom>
          <a:solidFill>
            <a:srgbClr val="1A3A5C"/>
          </a:solidFill>
          <a:ln w="6350">
            <a:solidFill>
              <a:srgbClr val="0A1E35"/>
            </a:solidFill>
            <a:prstDash val="solid"/>
          </a:ln>
        </p:spPr>
      </p:sp>
      <p:sp>
        <p:nvSpPr>
          <p:cNvPr id="10" name="Text 8"/>
          <p:cNvSpPr/>
          <p:nvPr/>
        </p:nvSpPr>
        <p:spPr>
          <a:xfrm>
            <a:off x="5193792" y="1362456"/>
            <a:ext cx="3511296" cy="256032"/>
          </a:xfrm>
          <a:prstGeom prst="rect">
            <a:avLst/>
          </a:prstGeom>
          <a:noFill/>
          <a:ln/>
        </p:spPr>
        <p:txBody>
          <a:bodyPr wrap="square" rtlCol="0" anchor="t"/>
          <a:lstStyle/>
          <a:p>
            <a:pPr indent="0" marL="0">
              <a:buNone/>
            </a:pPr>
            <a:r>
              <a:rPr lang="en-US" sz="1000" b="1" dirty="0">
                <a:solidFill>
                  <a:srgbClr val="14B8A6"/>
                </a:solidFill>
                <a:latin typeface="Calibri" pitchFamily="34" charset="0"/>
                <a:ea typeface="Calibri" pitchFamily="34" charset="-122"/>
                <a:cs typeface="Calibri" pitchFamily="34" charset="-120"/>
              </a:rPr>
              <a:t>Solution B: Supply Chain Diversification</a:t>
            </a:r>
            <a:endParaRPr lang="en-US" sz="1000" dirty="0"/>
          </a:p>
        </p:txBody>
      </p:sp>
      <p:sp>
        <p:nvSpPr>
          <p:cNvPr id="11" name="Shape 9"/>
          <p:cNvSpPr/>
          <p:nvPr/>
        </p:nvSpPr>
        <p:spPr>
          <a:xfrm>
            <a:off x="365760" y="1655064"/>
            <a:ext cx="1097280" cy="457200"/>
          </a:xfrm>
          <a:prstGeom prst="rect">
            <a:avLst/>
          </a:prstGeom>
          <a:solidFill>
            <a:srgbClr val="1A3A5C"/>
          </a:solidFill>
          <a:ln w="6350">
            <a:solidFill>
              <a:srgbClr val="0A1E35"/>
            </a:solidFill>
            <a:prstDash val="solid"/>
          </a:ln>
        </p:spPr>
      </p:sp>
      <p:sp>
        <p:nvSpPr>
          <p:cNvPr id="12" name="Text 10"/>
          <p:cNvSpPr/>
          <p:nvPr/>
        </p:nvSpPr>
        <p:spPr>
          <a:xfrm>
            <a:off x="438912" y="1691640"/>
            <a:ext cx="950976" cy="384048"/>
          </a:xfrm>
          <a:prstGeom prst="rect">
            <a:avLst/>
          </a:prstGeom>
          <a:noFill/>
          <a:ln/>
        </p:spPr>
        <p:txBody>
          <a:bodyPr wrap="square" rtlCol="0" anchor="t"/>
          <a:lstStyle/>
          <a:p>
            <a:pPr indent="0" marL="0">
              <a:buNone/>
            </a:pPr>
            <a:r>
              <a:rPr lang="en-US" sz="1000" b="1" dirty="0">
                <a:solidFill>
                  <a:srgbClr val="AABBCC"/>
                </a:solidFill>
                <a:latin typeface="Calibri" pitchFamily="34" charset="0"/>
                <a:ea typeface="Calibri" pitchFamily="34" charset="-122"/>
                <a:cs typeface="Calibri" pitchFamily="34" charset="-120"/>
              </a:rPr>
              <a:t>Description</a:t>
            </a:r>
            <a:endParaRPr lang="en-US" sz="1000" dirty="0"/>
          </a:p>
        </p:txBody>
      </p:sp>
      <p:sp>
        <p:nvSpPr>
          <p:cNvPr id="13" name="Shape 11"/>
          <p:cNvSpPr/>
          <p:nvPr/>
        </p:nvSpPr>
        <p:spPr>
          <a:xfrm>
            <a:off x="1463040" y="1655064"/>
            <a:ext cx="3657600" cy="457200"/>
          </a:xfrm>
          <a:prstGeom prst="rect">
            <a:avLst/>
          </a:prstGeom>
          <a:solidFill>
            <a:srgbClr val="162A40"/>
          </a:solidFill>
          <a:ln w="6350">
            <a:solidFill>
              <a:srgbClr val="0A1E35"/>
            </a:solidFill>
            <a:prstDash val="solid"/>
          </a:ln>
        </p:spPr>
      </p:sp>
      <p:sp>
        <p:nvSpPr>
          <p:cNvPr id="14" name="Text 12"/>
          <p:cNvSpPr/>
          <p:nvPr/>
        </p:nvSpPr>
        <p:spPr>
          <a:xfrm>
            <a:off x="1536192" y="1691640"/>
            <a:ext cx="3511296" cy="384048"/>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Accept price reductions + commit to U.S. domestic manufacturing in exchange for tariff exemptions.</a:t>
            </a:r>
            <a:endParaRPr lang="en-US" sz="900" dirty="0"/>
          </a:p>
        </p:txBody>
      </p:sp>
      <p:sp>
        <p:nvSpPr>
          <p:cNvPr id="15" name="Shape 13"/>
          <p:cNvSpPr/>
          <p:nvPr/>
        </p:nvSpPr>
        <p:spPr>
          <a:xfrm>
            <a:off x="5120640" y="1655064"/>
            <a:ext cx="3657600" cy="457200"/>
          </a:xfrm>
          <a:prstGeom prst="rect">
            <a:avLst/>
          </a:prstGeom>
          <a:solidFill>
            <a:srgbClr val="162A40"/>
          </a:solidFill>
          <a:ln w="6350">
            <a:solidFill>
              <a:srgbClr val="0A1E35"/>
            </a:solidFill>
            <a:prstDash val="solid"/>
          </a:ln>
        </p:spPr>
      </p:sp>
      <p:sp>
        <p:nvSpPr>
          <p:cNvPr id="16" name="Text 14"/>
          <p:cNvSpPr/>
          <p:nvPr/>
        </p:nvSpPr>
        <p:spPr>
          <a:xfrm>
            <a:off x="5193792" y="1691640"/>
            <a:ext cx="3511296" cy="384048"/>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Shift production to non-European sites (Singapore, Ireland) to sidestep Danish-import tariffs.</a:t>
            </a:r>
            <a:endParaRPr lang="en-US" sz="900" dirty="0"/>
          </a:p>
        </p:txBody>
      </p:sp>
      <p:sp>
        <p:nvSpPr>
          <p:cNvPr id="17" name="Shape 15"/>
          <p:cNvSpPr/>
          <p:nvPr/>
        </p:nvSpPr>
        <p:spPr>
          <a:xfrm>
            <a:off x="365760" y="2112264"/>
            <a:ext cx="1097280" cy="713232"/>
          </a:xfrm>
          <a:prstGeom prst="rect">
            <a:avLst/>
          </a:prstGeom>
          <a:solidFill>
            <a:srgbClr val="1A3A5C"/>
          </a:solidFill>
          <a:ln w="6350">
            <a:solidFill>
              <a:srgbClr val="0A1E35"/>
            </a:solidFill>
            <a:prstDash val="solid"/>
          </a:ln>
        </p:spPr>
      </p:sp>
      <p:sp>
        <p:nvSpPr>
          <p:cNvPr id="18" name="Text 16"/>
          <p:cNvSpPr/>
          <p:nvPr/>
        </p:nvSpPr>
        <p:spPr>
          <a:xfrm>
            <a:off x="438912" y="2148840"/>
            <a:ext cx="950976" cy="640080"/>
          </a:xfrm>
          <a:prstGeom prst="rect">
            <a:avLst/>
          </a:prstGeom>
          <a:noFill/>
          <a:ln/>
        </p:spPr>
        <p:txBody>
          <a:bodyPr wrap="square" rtlCol="0" anchor="t"/>
          <a:lstStyle/>
          <a:p>
            <a:pPr indent="0" marL="0">
              <a:buNone/>
            </a:pPr>
            <a:r>
              <a:rPr lang="en-US" sz="1000" b="1" dirty="0">
                <a:solidFill>
                  <a:srgbClr val="AABBCC"/>
                </a:solidFill>
                <a:latin typeface="Calibri" pitchFamily="34" charset="0"/>
                <a:ea typeface="Calibri" pitchFamily="34" charset="-122"/>
                <a:cs typeface="Calibri" pitchFamily="34" charset="-120"/>
              </a:rPr>
              <a:t>Pros</a:t>
            </a:r>
            <a:endParaRPr lang="en-US" sz="1000" dirty="0"/>
          </a:p>
        </p:txBody>
      </p:sp>
      <p:sp>
        <p:nvSpPr>
          <p:cNvPr id="19" name="Shape 17"/>
          <p:cNvSpPr/>
          <p:nvPr/>
        </p:nvSpPr>
        <p:spPr>
          <a:xfrm>
            <a:off x="1463040" y="2112264"/>
            <a:ext cx="3657600" cy="713232"/>
          </a:xfrm>
          <a:prstGeom prst="rect">
            <a:avLst/>
          </a:prstGeom>
          <a:solidFill>
            <a:srgbClr val="162A40"/>
          </a:solidFill>
          <a:ln w="6350">
            <a:solidFill>
              <a:srgbClr val="0A1E35"/>
            </a:solidFill>
            <a:prstDash val="solid"/>
          </a:ln>
        </p:spPr>
      </p:sp>
      <p:sp>
        <p:nvSpPr>
          <p:cNvPr id="20" name="Text 18"/>
          <p:cNvSpPr/>
          <p:nvPr/>
        </p:nvSpPr>
        <p:spPr>
          <a:xfrm>
            <a:off x="1536192" y="2148840"/>
            <a:ext cx="3511296" cy="640080"/>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 Eliminates tariff risk immediately</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Builds political goodwill</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Lower prices expand patient volume</a:t>
            </a:r>
            <a:endParaRPr lang="en-US" sz="900" dirty="0"/>
          </a:p>
        </p:txBody>
      </p:sp>
      <p:sp>
        <p:nvSpPr>
          <p:cNvPr id="21" name="Shape 19"/>
          <p:cNvSpPr/>
          <p:nvPr/>
        </p:nvSpPr>
        <p:spPr>
          <a:xfrm>
            <a:off x="5120640" y="2112264"/>
            <a:ext cx="3657600" cy="713232"/>
          </a:xfrm>
          <a:prstGeom prst="rect">
            <a:avLst/>
          </a:prstGeom>
          <a:solidFill>
            <a:srgbClr val="162A40"/>
          </a:solidFill>
          <a:ln w="6350">
            <a:solidFill>
              <a:srgbClr val="0A1E35"/>
            </a:solidFill>
            <a:prstDash val="solid"/>
          </a:ln>
        </p:spPr>
      </p:sp>
      <p:sp>
        <p:nvSpPr>
          <p:cNvPr id="22" name="Text 20"/>
          <p:cNvSpPr/>
          <p:nvPr/>
        </p:nvSpPr>
        <p:spPr>
          <a:xfrm>
            <a:off x="5193792" y="2148840"/>
            <a:ext cx="3511296" cy="640080"/>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 Preserves premium pricing</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Avoids capitulation precedent</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Adds supply resilience</a:t>
            </a:r>
            <a:endParaRPr lang="en-US" sz="900" dirty="0"/>
          </a:p>
        </p:txBody>
      </p:sp>
      <p:sp>
        <p:nvSpPr>
          <p:cNvPr id="23" name="Shape 21"/>
          <p:cNvSpPr/>
          <p:nvPr/>
        </p:nvSpPr>
        <p:spPr>
          <a:xfrm>
            <a:off x="365760" y="2825496"/>
            <a:ext cx="1097280" cy="658368"/>
          </a:xfrm>
          <a:prstGeom prst="rect">
            <a:avLst/>
          </a:prstGeom>
          <a:solidFill>
            <a:srgbClr val="1A3A5C"/>
          </a:solidFill>
          <a:ln w="6350">
            <a:solidFill>
              <a:srgbClr val="0A1E35"/>
            </a:solidFill>
            <a:prstDash val="solid"/>
          </a:ln>
        </p:spPr>
      </p:sp>
      <p:sp>
        <p:nvSpPr>
          <p:cNvPr id="24" name="Text 22"/>
          <p:cNvSpPr/>
          <p:nvPr/>
        </p:nvSpPr>
        <p:spPr>
          <a:xfrm>
            <a:off x="438912" y="2862072"/>
            <a:ext cx="950976" cy="585216"/>
          </a:xfrm>
          <a:prstGeom prst="rect">
            <a:avLst/>
          </a:prstGeom>
          <a:noFill/>
          <a:ln/>
        </p:spPr>
        <p:txBody>
          <a:bodyPr wrap="square" rtlCol="0" anchor="t"/>
          <a:lstStyle/>
          <a:p>
            <a:pPr indent="0" marL="0">
              <a:buNone/>
            </a:pPr>
            <a:r>
              <a:rPr lang="en-US" sz="1000" b="1" dirty="0">
                <a:solidFill>
                  <a:srgbClr val="AABBCC"/>
                </a:solidFill>
                <a:latin typeface="Calibri" pitchFamily="34" charset="0"/>
                <a:ea typeface="Calibri" pitchFamily="34" charset="-122"/>
                <a:cs typeface="Calibri" pitchFamily="34" charset="-120"/>
              </a:rPr>
              <a:t>Cons</a:t>
            </a:r>
            <a:endParaRPr lang="en-US" sz="1000" dirty="0"/>
          </a:p>
        </p:txBody>
      </p:sp>
      <p:sp>
        <p:nvSpPr>
          <p:cNvPr id="25" name="Shape 23"/>
          <p:cNvSpPr/>
          <p:nvPr/>
        </p:nvSpPr>
        <p:spPr>
          <a:xfrm>
            <a:off x="1463040" y="2825496"/>
            <a:ext cx="3657600" cy="658368"/>
          </a:xfrm>
          <a:prstGeom prst="rect">
            <a:avLst/>
          </a:prstGeom>
          <a:solidFill>
            <a:srgbClr val="162A40"/>
          </a:solidFill>
          <a:ln w="6350">
            <a:solidFill>
              <a:srgbClr val="0A1E35"/>
            </a:solidFill>
            <a:prstDash val="solid"/>
          </a:ln>
        </p:spPr>
      </p:sp>
      <p:sp>
        <p:nvSpPr>
          <p:cNvPr id="26" name="Text 24"/>
          <p:cNvSpPr/>
          <p:nvPr/>
        </p:nvSpPr>
        <p:spPr>
          <a:xfrm>
            <a:off x="1536192" y="2862072"/>
            <a:ext cx="3511296" cy="585216"/>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 Drastically shrinks margins</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$10B manufacturing commitment</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May set precedent</a:t>
            </a:r>
            <a:endParaRPr lang="en-US" sz="900" dirty="0"/>
          </a:p>
        </p:txBody>
      </p:sp>
      <p:sp>
        <p:nvSpPr>
          <p:cNvPr id="27" name="Shape 25"/>
          <p:cNvSpPr/>
          <p:nvPr/>
        </p:nvSpPr>
        <p:spPr>
          <a:xfrm>
            <a:off x="5120640" y="2825496"/>
            <a:ext cx="3657600" cy="658368"/>
          </a:xfrm>
          <a:prstGeom prst="rect">
            <a:avLst/>
          </a:prstGeom>
          <a:solidFill>
            <a:srgbClr val="162A40"/>
          </a:solidFill>
          <a:ln w="6350">
            <a:solidFill>
              <a:srgbClr val="0A1E35"/>
            </a:solidFill>
            <a:prstDash val="solid"/>
          </a:ln>
        </p:spPr>
      </p:sp>
      <p:sp>
        <p:nvSpPr>
          <p:cNvPr id="28" name="Text 26"/>
          <p:cNvSpPr/>
          <p:nvPr/>
        </p:nvSpPr>
        <p:spPr>
          <a:xfrm>
            <a:off x="5193792" y="2862072"/>
            <a:ext cx="3511296" cy="585216"/>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 3–5 year build timeline</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Doesn't address MFN pricing</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Quality risk at new sites</a:t>
            </a:r>
            <a:endParaRPr lang="en-US" sz="900" dirty="0"/>
          </a:p>
        </p:txBody>
      </p:sp>
      <p:sp>
        <p:nvSpPr>
          <p:cNvPr id="29" name="Shape 27"/>
          <p:cNvSpPr/>
          <p:nvPr/>
        </p:nvSpPr>
        <p:spPr>
          <a:xfrm>
            <a:off x="365760" y="3483864"/>
            <a:ext cx="1097280" cy="530352"/>
          </a:xfrm>
          <a:prstGeom prst="rect">
            <a:avLst/>
          </a:prstGeom>
          <a:solidFill>
            <a:srgbClr val="1A3A5C"/>
          </a:solidFill>
          <a:ln w="6350">
            <a:solidFill>
              <a:srgbClr val="0A1E35"/>
            </a:solidFill>
            <a:prstDash val="solid"/>
          </a:ln>
        </p:spPr>
      </p:sp>
      <p:sp>
        <p:nvSpPr>
          <p:cNvPr id="30" name="Text 28"/>
          <p:cNvSpPr/>
          <p:nvPr/>
        </p:nvSpPr>
        <p:spPr>
          <a:xfrm>
            <a:off x="438912" y="3520440"/>
            <a:ext cx="950976" cy="457200"/>
          </a:xfrm>
          <a:prstGeom prst="rect">
            <a:avLst/>
          </a:prstGeom>
          <a:noFill/>
          <a:ln/>
        </p:spPr>
        <p:txBody>
          <a:bodyPr wrap="square" rtlCol="0" anchor="t"/>
          <a:lstStyle/>
          <a:p>
            <a:pPr indent="0" marL="0">
              <a:buNone/>
            </a:pPr>
            <a:r>
              <a:rPr lang="en-US" sz="1000" b="1" dirty="0">
                <a:solidFill>
                  <a:srgbClr val="AABBCC"/>
                </a:solidFill>
                <a:latin typeface="Calibri" pitchFamily="34" charset="0"/>
                <a:ea typeface="Calibri" pitchFamily="34" charset="-122"/>
                <a:cs typeface="Calibri" pitchFamily="34" charset="-120"/>
              </a:rPr>
              <a:t>✔ Recommended</a:t>
            </a:r>
            <a:endParaRPr lang="en-US" sz="1000" dirty="0"/>
          </a:p>
        </p:txBody>
      </p:sp>
      <p:sp>
        <p:nvSpPr>
          <p:cNvPr id="31" name="Shape 29"/>
          <p:cNvSpPr/>
          <p:nvPr/>
        </p:nvSpPr>
        <p:spPr>
          <a:xfrm>
            <a:off x="1463040" y="3483864"/>
            <a:ext cx="7315200" cy="530352"/>
          </a:xfrm>
          <a:prstGeom prst="rect">
            <a:avLst/>
          </a:prstGeom>
          <a:solidFill>
            <a:srgbClr val="0A3D35"/>
          </a:solidFill>
          <a:ln w="6350">
            <a:solidFill>
              <a:srgbClr val="0A1E35"/>
            </a:solidFill>
            <a:prstDash val="solid"/>
          </a:ln>
        </p:spPr>
      </p:sp>
      <p:sp>
        <p:nvSpPr>
          <p:cNvPr id="32" name="Text 30"/>
          <p:cNvSpPr/>
          <p:nvPr/>
        </p:nvSpPr>
        <p:spPr>
          <a:xfrm>
            <a:off x="1536192" y="3520440"/>
            <a:ext cx="7168896" cy="457200"/>
          </a:xfrm>
          <a:prstGeom prst="rect">
            <a:avLst/>
          </a:prstGeom>
          <a:noFill/>
          <a:ln/>
        </p:spPr>
        <p:txBody>
          <a:bodyPr wrap="square" rtlCol="0" anchor="t"/>
          <a:lstStyle/>
          <a:p>
            <a:pPr indent="0" marL="0">
              <a:buNone/>
            </a:pPr>
            <a:r>
              <a:rPr lang="en-US" sz="900" dirty="0">
                <a:solidFill>
                  <a:srgbClr val="14B8A6"/>
                </a:solidFill>
                <a:latin typeface="Calibri" pitchFamily="34" charset="0"/>
                <a:ea typeface="Calibri" pitchFamily="34" charset="-122"/>
                <a:cs typeface="Calibri" pitchFamily="34" charset="-120"/>
              </a:rPr>
              <a:t>Solution A — The November 2025 deal proved this works. 82% price cuts + $10B commitment eliminated the tariff threat. Solution B's timeline missed the October 2025 deadline entirely.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64592"/>
            <a:ext cx="8412480" cy="27432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SECTION D  ·  STRATEGIC SOLUTIONS  ·  CHALLENGE 2</a:t>
            </a:r>
            <a:endParaRPr lang="en-US" sz="900" dirty="0"/>
          </a:p>
        </p:txBody>
      </p:sp>
      <p:sp>
        <p:nvSpPr>
          <p:cNvPr id="3" name="Text 1"/>
          <p:cNvSpPr/>
          <p:nvPr/>
        </p:nvSpPr>
        <p:spPr>
          <a:xfrm>
            <a:off x="365760" y="475488"/>
            <a:ext cx="8412480" cy="68580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Competitive Disruption: Decision Table</a:t>
            </a:r>
            <a:endParaRPr lang="en-US" sz="3000" dirty="0"/>
          </a:p>
        </p:txBody>
      </p:sp>
      <p:sp>
        <p:nvSpPr>
          <p:cNvPr id="4" name="Shape 2"/>
          <p:cNvSpPr/>
          <p:nvPr/>
        </p:nvSpPr>
        <p:spPr>
          <a:xfrm>
            <a:off x="365760" y="1170432"/>
            <a:ext cx="1097280" cy="45720"/>
          </a:xfrm>
          <a:prstGeom prst="rect">
            <a:avLst/>
          </a:prstGeom>
          <a:solidFill>
            <a:srgbClr val="0E8A7A"/>
          </a:solidFill>
          <a:ln w="12700">
            <a:solidFill>
              <a:srgbClr val="0E8A7A"/>
            </a:solidFill>
            <a:prstDash val="solid"/>
          </a:ln>
        </p:spPr>
      </p:sp>
      <p:sp>
        <p:nvSpPr>
          <p:cNvPr id="5" name="Shape 3"/>
          <p:cNvSpPr/>
          <p:nvPr/>
        </p:nvSpPr>
        <p:spPr>
          <a:xfrm>
            <a:off x="365760" y="1325880"/>
            <a:ext cx="1097280" cy="329184"/>
          </a:xfrm>
          <a:prstGeom prst="rect">
            <a:avLst/>
          </a:prstGeom>
          <a:solidFill>
            <a:srgbClr val="1A3A5C"/>
          </a:solidFill>
          <a:ln w="6350">
            <a:solidFill>
              <a:srgbClr val="0A1E35"/>
            </a:solidFill>
            <a:prstDash val="solid"/>
          </a:ln>
        </p:spPr>
      </p:sp>
      <p:sp>
        <p:nvSpPr>
          <p:cNvPr id="6" name="Text 4"/>
          <p:cNvSpPr/>
          <p:nvPr/>
        </p:nvSpPr>
        <p:spPr>
          <a:xfrm>
            <a:off x="438912" y="1362456"/>
            <a:ext cx="950976" cy="256032"/>
          </a:xfrm>
          <a:prstGeom prst="rect">
            <a:avLst/>
          </a:prstGeom>
          <a:noFill/>
          <a:ln/>
        </p:spPr>
        <p:txBody>
          <a:bodyPr wrap="square" rtlCol="0" anchor="t"/>
          <a:lstStyle/>
          <a:p>
            <a:pPr indent="0" marL="0">
              <a:buNone/>
            </a:pPr>
            <a:endParaRPr lang="en-US" sz="1000" dirty="0"/>
          </a:p>
        </p:txBody>
      </p:sp>
      <p:sp>
        <p:nvSpPr>
          <p:cNvPr id="7" name="Shape 5"/>
          <p:cNvSpPr/>
          <p:nvPr/>
        </p:nvSpPr>
        <p:spPr>
          <a:xfrm>
            <a:off x="1463040" y="1325880"/>
            <a:ext cx="3657600" cy="329184"/>
          </a:xfrm>
          <a:prstGeom prst="rect">
            <a:avLst/>
          </a:prstGeom>
          <a:solidFill>
            <a:srgbClr val="1A3A5C"/>
          </a:solidFill>
          <a:ln w="6350">
            <a:solidFill>
              <a:srgbClr val="0A1E35"/>
            </a:solidFill>
            <a:prstDash val="solid"/>
          </a:ln>
        </p:spPr>
      </p:sp>
      <p:sp>
        <p:nvSpPr>
          <p:cNvPr id="8" name="Text 6"/>
          <p:cNvSpPr/>
          <p:nvPr/>
        </p:nvSpPr>
        <p:spPr>
          <a:xfrm>
            <a:off x="1536192" y="1362456"/>
            <a:ext cx="3511296" cy="256032"/>
          </a:xfrm>
          <a:prstGeom prst="rect">
            <a:avLst/>
          </a:prstGeom>
          <a:noFill/>
          <a:ln/>
        </p:spPr>
        <p:txBody>
          <a:bodyPr wrap="square" rtlCol="0" anchor="t"/>
          <a:lstStyle/>
          <a:p>
            <a:pPr indent="0" marL="0">
              <a:buNone/>
            </a:pPr>
            <a:r>
              <a:rPr lang="en-US" sz="1000" b="1" dirty="0">
                <a:solidFill>
                  <a:srgbClr val="14B8A6"/>
                </a:solidFill>
                <a:latin typeface="Calibri" pitchFamily="34" charset="0"/>
                <a:ea typeface="Calibri" pitchFamily="34" charset="-122"/>
                <a:cs typeface="Calibri" pitchFamily="34" charset="-120"/>
              </a:rPr>
              <a:t>Solution A: Accelerate Pipeline Innovation</a:t>
            </a:r>
            <a:endParaRPr lang="en-US" sz="1000" dirty="0"/>
          </a:p>
        </p:txBody>
      </p:sp>
      <p:sp>
        <p:nvSpPr>
          <p:cNvPr id="9" name="Shape 7"/>
          <p:cNvSpPr/>
          <p:nvPr/>
        </p:nvSpPr>
        <p:spPr>
          <a:xfrm>
            <a:off x="5120640" y="1325880"/>
            <a:ext cx="3657600" cy="329184"/>
          </a:xfrm>
          <a:prstGeom prst="rect">
            <a:avLst/>
          </a:prstGeom>
          <a:solidFill>
            <a:srgbClr val="1A3A5C"/>
          </a:solidFill>
          <a:ln w="6350">
            <a:solidFill>
              <a:srgbClr val="0A1E35"/>
            </a:solidFill>
            <a:prstDash val="solid"/>
          </a:ln>
        </p:spPr>
      </p:sp>
      <p:sp>
        <p:nvSpPr>
          <p:cNvPr id="10" name="Text 8"/>
          <p:cNvSpPr/>
          <p:nvPr/>
        </p:nvSpPr>
        <p:spPr>
          <a:xfrm>
            <a:off x="5193792" y="1362456"/>
            <a:ext cx="3511296" cy="256032"/>
          </a:xfrm>
          <a:prstGeom prst="rect">
            <a:avLst/>
          </a:prstGeom>
          <a:noFill/>
          <a:ln/>
        </p:spPr>
        <p:txBody>
          <a:bodyPr wrap="square" rtlCol="0" anchor="t"/>
          <a:lstStyle/>
          <a:p>
            <a:pPr indent="0" marL="0">
              <a:buNone/>
            </a:pPr>
            <a:r>
              <a:rPr lang="en-US" sz="1000" b="1" dirty="0">
                <a:solidFill>
                  <a:srgbClr val="14B8A6"/>
                </a:solidFill>
                <a:latin typeface="Calibri" pitchFamily="34" charset="0"/>
                <a:ea typeface="Calibri" pitchFamily="34" charset="-122"/>
                <a:cs typeface="Calibri" pitchFamily="34" charset="-120"/>
              </a:rPr>
              <a:t>Solution B: Market Education &amp; Legal Action</a:t>
            </a:r>
            <a:endParaRPr lang="en-US" sz="1000" dirty="0"/>
          </a:p>
        </p:txBody>
      </p:sp>
      <p:sp>
        <p:nvSpPr>
          <p:cNvPr id="11" name="Shape 9"/>
          <p:cNvSpPr/>
          <p:nvPr/>
        </p:nvSpPr>
        <p:spPr>
          <a:xfrm>
            <a:off x="365760" y="1655064"/>
            <a:ext cx="1097280" cy="457200"/>
          </a:xfrm>
          <a:prstGeom prst="rect">
            <a:avLst/>
          </a:prstGeom>
          <a:solidFill>
            <a:srgbClr val="1A3A5C"/>
          </a:solidFill>
          <a:ln w="6350">
            <a:solidFill>
              <a:srgbClr val="0A1E35"/>
            </a:solidFill>
            <a:prstDash val="solid"/>
          </a:ln>
        </p:spPr>
      </p:sp>
      <p:sp>
        <p:nvSpPr>
          <p:cNvPr id="12" name="Text 10"/>
          <p:cNvSpPr/>
          <p:nvPr/>
        </p:nvSpPr>
        <p:spPr>
          <a:xfrm>
            <a:off x="438912" y="1691640"/>
            <a:ext cx="950976" cy="384048"/>
          </a:xfrm>
          <a:prstGeom prst="rect">
            <a:avLst/>
          </a:prstGeom>
          <a:noFill/>
          <a:ln/>
        </p:spPr>
        <p:txBody>
          <a:bodyPr wrap="square" rtlCol="0" anchor="t"/>
          <a:lstStyle/>
          <a:p>
            <a:pPr indent="0" marL="0">
              <a:buNone/>
            </a:pPr>
            <a:r>
              <a:rPr lang="en-US" sz="1000" b="1" dirty="0">
                <a:solidFill>
                  <a:srgbClr val="AABBCC"/>
                </a:solidFill>
                <a:latin typeface="Calibri" pitchFamily="34" charset="0"/>
                <a:ea typeface="Calibri" pitchFamily="34" charset="-122"/>
                <a:cs typeface="Calibri" pitchFamily="34" charset="-120"/>
              </a:rPr>
              <a:t>Description</a:t>
            </a:r>
            <a:endParaRPr lang="en-US" sz="1000" dirty="0"/>
          </a:p>
        </p:txBody>
      </p:sp>
      <p:sp>
        <p:nvSpPr>
          <p:cNvPr id="13" name="Shape 11"/>
          <p:cNvSpPr/>
          <p:nvPr/>
        </p:nvSpPr>
        <p:spPr>
          <a:xfrm>
            <a:off x="1463040" y="1655064"/>
            <a:ext cx="3657600" cy="457200"/>
          </a:xfrm>
          <a:prstGeom prst="rect">
            <a:avLst/>
          </a:prstGeom>
          <a:solidFill>
            <a:srgbClr val="162A40"/>
          </a:solidFill>
          <a:ln w="6350">
            <a:solidFill>
              <a:srgbClr val="0A1E35"/>
            </a:solidFill>
            <a:prstDash val="solid"/>
          </a:ln>
        </p:spPr>
      </p:sp>
      <p:sp>
        <p:nvSpPr>
          <p:cNvPr id="14" name="Text 12"/>
          <p:cNvSpPr/>
          <p:nvPr/>
        </p:nvSpPr>
        <p:spPr>
          <a:xfrm>
            <a:off x="1536192" y="1691640"/>
            <a:ext cx="3511296" cy="384048"/>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Fast-track next-gen GLP-1 products: oral formulations, CagriSema combo therapy, new indications (Alzheimer's, MASH).</a:t>
            </a:r>
            <a:endParaRPr lang="en-US" sz="900" dirty="0"/>
          </a:p>
        </p:txBody>
      </p:sp>
      <p:sp>
        <p:nvSpPr>
          <p:cNvPr id="15" name="Shape 13"/>
          <p:cNvSpPr/>
          <p:nvPr/>
        </p:nvSpPr>
        <p:spPr>
          <a:xfrm>
            <a:off x="5120640" y="1655064"/>
            <a:ext cx="3657600" cy="457200"/>
          </a:xfrm>
          <a:prstGeom prst="rect">
            <a:avLst/>
          </a:prstGeom>
          <a:solidFill>
            <a:srgbClr val="162A40"/>
          </a:solidFill>
          <a:ln w="6350">
            <a:solidFill>
              <a:srgbClr val="0A1E35"/>
            </a:solidFill>
            <a:prstDash val="solid"/>
          </a:ln>
        </p:spPr>
      </p:sp>
      <p:sp>
        <p:nvSpPr>
          <p:cNvPr id="16" name="Text 14"/>
          <p:cNvSpPr/>
          <p:nvPr/>
        </p:nvSpPr>
        <p:spPr>
          <a:xfrm>
            <a:off x="5193792" y="1691640"/>
            <a:ext cx="3511296" cy="384048"/>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Public education campaigns on GLP-1 clinical evidence + legal enforcement against compounders.</a:t>
            </a:r>
            <a:endParaRPr lang="en-US" sz="900" dirty="0"/>
          </a:p>
        </p:txBody>
      </p:sp>
      <p:sp>
        <p:nvSpPr>
          <p:cNvPr id="17" name="Shape 15"/>
          <p:cNvSpPr/>
          <p:nvPr/>
        </p:nvSpPr>
        <p:spPr>
          <a:xfrm>
            <a:off x="365760" y="2112264"/>
            <a:ext cx="1097280" cy="713232"/>
          </a:xfrm>
          <a:prstGeom prst="rect">
            <a:avLst/>
          </a:prstGeom>
          <a:solidFill>
            <a:srgbClr val="1A3A5C"/>
          </a:solidFill>
          <a:ln w="6350">
            <a:solidFill>
              <a:srgbClr val="0A1E35"/>
            </a:solidFill>
            <a:prstDash val="solid"/>
          </a:ln>
        </p:spPr>
      </p:sp>
      <p:sp>
        <p:nvSpPr>
          <p:cNvPr id="18" name="Text 16"/>
          <p:cNvSpPr/>
          <p:nvPr/>
        </p:nvSpPr>
        <p:spPr>
          <a:xfrm>
            <a:off x="438912" y="2148840"/>
            <a:ext cx="950976" cy="640080"/>
          </a:xfrm>
          <a:prstGeom prst="rect">
            <a:avLst/>
          </a:prstGeom>
          <a:noFill/>
          <a:ln/>
        </p:spPr>
        <p:txBody>
          <a:bodyPr wrap="square" rtlCol="0" anchor="t"/>
          <a:lstStyle/>
          <a:p>
            <a:pPr indent="0" marL="0">
              <a:buNone/>
            </a:pPr>
            <a:r>
              <a:rPr lang="en-US" sz="1000" b="1" dirty="0">
                <a:solidFill>
                  <a:srgbClr val="AABBCC"/>
                </a:solidFill>
                <a:latin typeface="Calibri" pitchFamily="34" charset="0"/>
                <a:ea typeface="Calibri" pitchFamily="34" charset="-122"/>
                <a:cs typeface="Calibri" pitchFamily="34" charset="-120"/>
              </a:rPr>
              <a:t>Pros</a:t>
            </a:r>
            <a:endParaRPr lang="en-US" sz="1000" dirty="0"/>
          </a:p>
        </p:txBody>
      </p:sp>
      <p:sp>
        <p:nvSpPr>
          <p:cNvPr id="19" name="Shape 17"/>
          <p:cNvSpPr/>
          <p:nvPr/>
        </p:nvSpPr>
        <p:spPr>
          <a:xfrm>
            <a:off x="1463040" y="2112264"/>
            <a:ext cx="3657600" cy="713232"/>
          </a:xfrm>
          <a:prstGeom prst="rect">
            <a:avLst/>
          </a:prstGeom>
          <a:solidFill>
            <a:srgbClr val="162A40"/>
          </a:solidFill>
          <a:ln w="6350">
            <a:solidFill>
              <a:srgbClr val="0A1E35"/>
            </a:solidFill>
            <a:prstDash val="solid"/>
          </a:ln>
        </p:spPr>
      </p:sp>
      <p:sp>
        <p:nvSpPr>
          <p:cNvPr id="20" name="Text 18"/>
          <p:cNvSpPr/>
          <p:nvPr/>
        </p:nvSpPr>
        <p:spPr>
          <a:xfrm>
            <a:off x="1536192" y="2148840"/>
            <a:ext cx="3511296" cy="640080"/>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 Creates durable competitive moat</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Oral pills compounders can't replicate</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Patent protection to 2037 (CagriSema)</a:t>
            </a:r>
            <a:endParaRPr lang="en-US" sz="900" dirty="0"/>
          </a:p>
        </p:txBody>
      </p:sp>
      <p:sp>
        <p:nvSpPr>
          <p:cNvPr id="21" name="Shape 19"/>
          <p:cNvSpPr/>
          <p:nvPr/>
        </p:nvSpPr>
        <p:spPr>
          <a:xfrm>
            <a:off x="5120640" y="2112264"/>
            <a:ext cx="3657600" cy="713232"/>
          </a:xfrm>
          <a:prstGeom prst="rect">
            <a:avLst/>
          </a:prstGeom>
          <a:solidFill>
            <a:srgbClr val="162A40"/>
          </a:solidFill>
          <a:ln w="6350">
            <a:solidFill>
              <a:srgbClr val="0A1E35"/>
            </a:solidFill>
            <a:prstDash val="solid"/>
          </a:ln>
        </p:spPr>
      </p:sp>
      <p:sp>
        <p:nvSpPr>
          <p:cNvPr id="22" name="Text 20"/>
          <p:cNvSpPr/>
          <p:nvPr/>
        </p:nvSpPr>
        <p:spPr>
          <a:xfrm>
            <a:off x="5193792" y="2148840"/>
            <a:ext cx="3511296" cy="640080"/>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 Counters ideological opposition</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Lower cost vs. full R&amp;D</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Legal action may curb compounding</a:t>
            </a:r>
            <a:endParaRPr lang="en-US" sz="900" dirty="0"/>
          </a:p>
        </p:txBody>
      </p:sp>
      <p:sp>
        <p:nvSpPr>
          <p:cNvPr id="23" name="Shape 21"/>
          <p:cNvSpPr/>
          <p:nvPr/>
        </p:nvSpPr>
        <p:spPr>
          <a:xfrm>
            <a:off x="365760" y="2825496"/>
            <a:ext cx="1097280" cy="658368"/>
          </a:xfrm>
          <a:prstGeom prst="rect">
            <a:avLst/>
          </a:prstGeom>
          <a:solidFill>
            <a:srgbClr val="1A3A5C"/>
          </a:solidFill>
          <a:ln w="6350">
            <a:solidFill>
              <a:srgbClr val="0A1E35"/>
            </a:solidFill>
            <a:prstDash val="solid"/>
          </a:ln>
        </p:spPr>
      </p:sp>
      <p:sp>
        <p:nvSpPr>
          <p:cNvPr id="24" name="Text 22"/>
          <p:cNvSpPr/>
          <p:nvPr/>
        </p:nvSpPr>
        <p:spPr>
          <a:xfrm>
            <a:off x="438912" y="2862072"/>
            <a:ext cx="950976" cy="585216"/>
          </a:xfrm>
          <a:prstGeom prst="rect">
            <a:avLst/>
          </a:prstGeom>
          <a:noFill/>
          <a:ln/>
        </p:spPr>
        <p:txBody>
          <a:bodyPr wrap="square" rtlCol="0" anchor="t"/>
          <a:lstStyle/>
          <a:p>
            <a:pPr indent="0" marL="0">
              <a:buNone/>
            </a:pPr>
            <a:r>
              <a:rPr lang="en-US" sz="1000" b="1" dirty="0">
                <a:solidFill>
                  <a:srgbClr val="AABBCC"/>
                </a:solidFill>
                <a:latin typeface="Calibri" pitchFamily="34" charset="0"/>
                <a:ea typeface="Calibri" pitchFamily="34" charset="-122"/>
                <a:cs typeface="Calibri" pitchFamily="34" charset="-120"/>
              </a:rPr>
              <a:t>Cons</a:t>
            </a:r>
            <a:endParaRPr lang="en-US" sz="1000" dirty="0"/>
          </a:p>
        </p:txBody>
      </p:sp>
      <p:sp>
        <p:nvSpPr>
          <p:cNvPr id="25" name="Shape 23"/>
          <p:cNvSpPr/>
          <p:nvPr/>
        </p:nvSpPr>
        <p:spPr>
          <a:xfrm>
            <a:off x="1463040" y="2825496"/>
            <a:ext cx="3657600" cy="658368"/>
          </a:xfrm>
          <a:prstGeom prst="rect">
            <a:avLst/>
          </a:prstGeom>
          <a:solidFill>
            <a:srgbClr val="162A40"/>
          </a:solidFill>
          <a:ln w="6350">
            <a:solidFill>
              <a:srgbClr val="0A1E35"/>
            </a:solidFill>
            <a:prstDash val="solid"/>
          </a:ln>
        </p:spPr>
      </p:sp>
      <p:sp>
        <p:nvSpPr>
          <p:cNvPr id="26" name="Text 24"/>
          <p:cNvSpPr/>
          <p:nvPr/>
        </p:nvSpPr>
        <p:spPr>
          <a:xfrm>
            <a:off x="1536192" y="2862072"/>
            <a:ext cx="3511296" cy="585216"/>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 Multi-year development timelines</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High R&amp;D cost, uncertain outcomes</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Eli Lilly pursuing identical path</a:t>
            </a:r>
            <a:endParaRPr lang="en-US" sz="900" dirty="0"/>
          </a:p>
        </p:txBody>
      </p:sp>
      <p:sp>
        <p:nvSpPr>
          <p:cNvPr id="27" name="Shape 25"/>
          <p:cNvSpPr/>
          <p:nvPr/>
        </p:nvSpPr>
        <p:spPr>
          <a:xfrm>
            <a:off x="5120640" y="2825496"/>
            <a:ext cx="3657600" cy="658368"/>
          </a:xfrm>
          <a:prstGeom prst="rect">
            <a:avLst/>
          </a:prstGeom>
          <a:solidFill>
            <a:srgbClr val="162A40"/>
          </a:solidFill>
          <a:ln w="6350">
            <a:solidFill>
              <a:srgbClr val="0A1E35"/>
            </a:solidFill>
            <a:prstDash val="solid"/>
          </a:ln>
        </p:spPr>
      </p:sp>
      <p:sp>
        <p:nvSpPr>
          <p:cNvPr id="28" name="Text 26"/>
          <p:cNvSpPr/>
          <p:nvPr/>
        </p:nvSpPr>
        <p:spPr>
          <a:xfrm>
            <a:off x="5193792" y="2862072"/>
            <a:ext cx="3511296" cy="585216"/>
          </a:xfrm>
          <a:prstGeom prst="rect">
            <a:avLst/>
          </a:prstGeom>
          <a:noFill/>
          <a:ln/>
        </p:spPr>
        <p:txBody>
          <a:bodyPr wrap="square" rtlCol="0" anchor="t"/>
          <a:lstStyle/>
          <a:p>
            <a:pPr indent="0" marL="0">
              <a:buNone/>
            </a:pPr>
            <a:r>
              <a:rPr lang="en-US" sz="900" dirty="0">
                <a:solidFill>
                  <a:srgbClr val="FFFFFF"/>
                </a:solidFill>
                <a:latin typeface="Calibri" pitchFamily="34" charset="0"/>
                <a:ea typeface="Calibri" pitchFamily="34" charset="-122"/>
                <a:cs typeface="Calibri" pitchFamily="34" charset="-120"/>
              </a:rPr>
              <a:t>✗ Creates PR risk attacking cheaper options</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No differentiation from Eli Lilly</a:t>
            </a:r>
            <a:endParaRPr lang="en-US" sz="900" dirty="0"/>
          </a:p>
          <a:p>
            <a:pPr indent="0" marL="0">
              <a:buNone/>
            </a:pPr>
            <a:r>
              <a:rPr lang="en-US" sz="900" dirty="0">
                <a:solidFill>
                  <a:srgbClr val="FFFFFF"/>
                </a:solidFill>
                <a:latin typeface="Calibri" pitchFamily="34" charset="0"/>
                <a:ea typeface="Calibri" pitchFamily="34" charset="-122"/>
                <a:cs typeface="Calibri" pitchFamily="34" charset="-120"/>
              </a:rPr>
              <a:t>✗ Unlikely to change RFK Jr.'s position</a:t>
            </a:r>
            <a:endParaRPr lang="en-US" sz="900" dirty="0"/>
          </a:p>
        </p:txBody>
      </p:sp>
      <p:sp>
        <p:nvSpPr>
          <p:cNvPr id="29" name="Shape 27"/>
          <p:cNvSpPr/>
          <p:nvPr/>
        </p:nvSpPr>
        <p:spPr>
          <a:xfrm>
            <a:off x="365760" y="3483864"/>
            <a:ext cx="1097280" cy="530352"/>
          </a:xfrm>
          <a:prstGeom prst="rect">
            <a:avLst/>
          </a:prstGeom>
          <a:solidFill>
            <a:srgbClr val="1A3A5C"/>
          </a:solidFill>
          <a:ln w="6350">
            <a:solidFill>
              <a:srgbClr val="0A1E35"/>
            </a:solidFill>
            <a:prstDash val="solid"/>
          </a:ln>
        </p:spPr>
      </p:sp>
      <p:sp>
        <p:nvSpPr>
          <p:cNvPr id="30" name="Text 28"/>
          <p:cNvSpPr/>
          <p:nvPr/>
        </p:nvSpPr>
        <p:spPr>
          <a:xfrm>
            <a:off x="438912" y="3520440"/>
            <a:ext cx="950976" cy="457200"/>
          </a:xfrm>
          <a:prstGeom prst="rect">
            <a:avLst/>
          </a:prstGeom>
          <a:noFill/>
          <a:ln/>
        </p:spPr>
        <p:txBody>
          <a:bodyPr wrap="square" rtlCol="0" anchor="t"/>
          <a:lstStyle/>
          <a:p>
            <a:pPr indent="0" marL="0">
              <a:buNone/>
            </a:pPr>
            <a:r>
              <a:rPr lang="en-US" sz="1000" b="1" dirty="0">
                <a:solidFill>
                  <a:srgbClr val="AABBCC"/>
                </a:solidFill>
                <a:latin typeface="Calibri" pitchFamily="34" charset="0"/>
                <a:ea typeface="Calibri" pitchFamily="34" charset="-122"/>
                <a:cs typeface="Calibri" pitchFamily="34" charset="-120"/>
              </a:rPr>
              <a:t>✔ Recommended</a:t>
            </a:r>
            <a:endParaRPr lang="en-US" sz="1000" dirty="0"/>
          </a:p>
        </p:txBody>
      </p:sp>
      <p:sp>
        <p:nvSpPr>
          <p:cNvPr id="31" name="Shape 29"/>
          <p:cNvSpPr/>
          <p:nvPr/>
        </p:nvSpPr>
        <p:spPr>
          <a:xfrm>
            <a:off x="1463040" y="3483864"/>
            <a:ext cx="7315200" cy="530352"/>
          </a:xfrm>
          <a:prstGeom prst="rect">
            <a:avLst/>
          </a:prstGeom>
          <a:solidFill>
            <a:srgbClr val="0A3D35"/>
          </a:solidFill>
          <a:ln w="6350">
            <a:solidFill>
              <a:srgbClr val="0A1E35"/>
            </a:solidFill>
            <a:prstDash val="solid"/>
          </a:ln>
        </p:spPr>
      </p:sp>
      <p:sp>
        <p:nvSpPr>
          <p:cNvPr id="32" name="Text 30"/>
          <p:cNvSpPr/>
          <p:nvPr/>
        </p:nvSpPr>
        <p:spPr>
          <a:xfrm>
            <a:off x="1536192" y="3520440"/>
            <a:ext cx="7168896" cy="457200"/>
          </a:xfrm>
          <a:prstGeom prst="rect">
            <a:avLst/>
          </a:prstGeom>
          <a:noFill/>
          <a:ln/>
        </p:spPr>
        <p:txBody>
          <a:bodyPr wrap="square" rtlCol="0" anchor="t"/>
          <a:lstStyle/>
          <a:p>
            <a:pPr indent="0" marL="0">
              <a:buNone/>
            </a:pPr>
            <a:r>
              <a:rPr lang="en-US" sz="900" dirty="0">
                <a:solidFill>
                  <a:srgbClr val="14B8A6"/>
                </a:solidFill>
                <a:latin typeface="Calibri" pitchFamily="34" charset="0"/>
                <a:ea typeface="Calibri" pitchFamily="34" charset="-122"/>
                <a:cs typeface="Calibri" pitchFamily="34" charset="-120"/>
              </a:rPr>
              <a:t>Solution A — Oral semaglutide FDA-approved late 2025, launched Jan 2026. CagriSema showed 22.7% weight loss. Innovation is the only durable answer to both Eli Lilly and compounders.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F0"/>
        </a:solidFill>
      </p:bgPr>
    </p:bg>
    <p:spTree>
      <p:nvGrpSpPr>
        <p:cNvPr id="1" name=""/>
        <p:cNvGrpSpPr/>
        <p:nvPr/>
      </p:nvGrpSpPr>
      <p:grpSpPr>
        <a:xfrm>
          <a:off x="0" y="0"/>
          <a:ext cx="0" cy="0"/>
          <a:chOff x="0" y="0"/>
          <a:chExt cx="0" cy="0"/>
        </a:xfrm>
      </p:grpSpPr>
      <p:sp>
        <p:nvSpPr>
          <p:cNvPr id="2" name="Text 0"/>
          <p:cNvSpPr/>
          <p:nvPr/>
        </p:nvSpPr>
        <p:spPr>
          <a:xfrm>
            <a:off x="365760" y="164592"/>
            <a:ext cx="8412480" cy="274320"/>
          </a:xfrm>
          <a:prstGeom prst="rect">
            <a:avLst/>
          </a:prstGeom>
          <a:noFill/>
          <a:ln/>
        </p:spPr>
        <p:txBody>
          <a:bodyPr wrap="square" rtlCol="0" anchor="ctr"/>
          <a:lstStyle/>
          <a:p>
            <a:pPr indent="0" marL="0">
              <a:buNone/>
            </a:pPr>
            <a:r>
              <a:rPr lang="en-US" sz="900" b="1" spc="400" kern="0" dirty="0">
                <a:solidFill>
                  <a:srgbClr val="0E8A7A"/>
                </a:solidFill>
                <a:latin typeface="Calibri" pitchFamily="34" charset="0"/>
                <a:ea typeface="Calibri" pitchFamily="34" charset="-122"/>
                <a:cs typeface="Calibri" pitchFamily="34" charset="-120"/>
              </a:rPr>
              <a:t>SECTION E  ·  COURSE CONCEPTS</a:t>
            </a:r>
            <a:endParaRPr lang="en-US" sz="900" dirty="0"/>
          </a:p>
        </p:txBody>
      </p:sp>
      <p:sp>
        <p:nvSpPr>
          <p:cNvPr id="3" name="Text 1"/>
          <p:cNvSpPr/>
          <p:nvPr/>
        </p:nvSpPr>
        <p:spPr>
          <a:xfrm>
            <a:off x="365760" y="475488"/>
            <a:ext cx="8412480" cy="594360"/>
          </a:xfrm>
          <a:prstGeom prst="rect">
            <a:avLst/>
          </a:prstGeom>
          <a:noFill/>
          <a:ln/>
        </p:spPr>
        <p:txBody>
          <a:bodyPr wrap="square" rtlCol="0" anchor="ctr"/>
          <a:lstStyle/>
          <a:p>
            <a:pPr indent="0" marL="0">
              <a:buNone/>
            </a:pPr>
            <a:r>
              <a:rPr lang="en-US" sz="3000" b="1" dirty="0">
                <a:solidFill>
                  <a:srgbClr val="0F2744"/>
                </a:solidFill>
                <a:latin typeface="Cambria" pitchFamily="34" charset="0"/>
                <a:ea typeface="Cambria" pitchFamily="34" charset="-122"/>
                <a:cs typeface="Cambria" pitchFamily="34" charset="-120"/>
              </a:rPr>
              <a:t>International Business Concepts Applied</a:t>
            </a:r>
            <a:endParaRPr lang="en-US" sz="3000" dirty="0"/>
          </a:p>
        </p:txBody>
      </p:sp>
      <p:sp>
        <p:nvSpPr>
          <p:cNvPr id="4" name="Shape 2"/>
          <p:cNvSpPr/>
          <p:nvPr/>
        </p:nvSpPr>
        <p:spPr>
          <a:xfrm>
            <a:off x="365760" y="1115568"/>
            <a:ext cx="1097280" cy="45720"/>
          </a:xfrm>
          <a:prstGeom prst="rect">
            <a:avLst/>
          </a:prstGeom>
          <a:solidFill>
            <a:srgbClr val="0E8A7A"/>
          </a:solidFill>
          <a:ln w="12700">
            <a:solidFill>
              <a:srgbClr val="0E8A7A"/>
            </a:solidFill>
            <a:prstDash val="solid"/>
          </a:ln>
        </p:spPr>
      </p:sp>
      <p:sp>
        <p:nvSpPr>
          <p:cNvPr id="5" name="Shape 3"/>
          <p:cNvSpPr/>
          <p:nvPr/>
        </p:nvSpPr>
        <p:spPr>
          <a:xfrm>
            <a:off x="365760" y="1280160"/>
            <a:ext cx="4023360" cy="1371600"/>
          </a:xfrm>
          <a:prstGeom prst="rect">
            <a:avLst/>
          </a:prstGeom>
          <a:solidFill>
            <a:srgbClr val="0F2744"/>
          </a:solidFill>
          <a:ln w="12700">
            <a:solidFill>
              <a:srgbClr val="0F2744"/>
            </a:solidFill>
            <a:prstDash val="solid"/>
          </a:ln>
        </p:spPr>
      </p:sp>
      <p:sp>
        <p:nvSpPr>
          <p:cNvPr id="6" name="Shape 4"/>
          <p:cNvSpPr/>
          <p:nvPr/>
        </p:nvSpPr>
        <p:spPr>
          <a:xfrm>
            <a:off x="365760" y="1280160"/>
            <a:ext cx="54864" cy="1371600"/>
          </a:xfrm>
          <a:prstGeom prst="rect">
            <a:avLst/>
          </a:prstGeom>
          <a:solidFill>
            <a:srgbClr val="0E8A7A"/>
          </a:solidFill>
          <a:ln w="12700">
            <a:solidFill>
              <a:srgbClr val="0E8A7A"/>
            </a:solidFill>
            <a:prstDash val="solid"/>
          </a:ln>
        </p:spPr>
      </p:sp>
      <p:sp>
        <p:nvSpPr>
          <p:cNvPr id="7" name="Text 5"/>
          <p:cNvSpPr/>
          <p:nvPr/>
        </p:nvSpPr>
        <p:spPr>
          <a:xfrm>
            <a:off x="530352" y="1371600"/>
            <a:ext cx="3749040" cy="320040"/>
          </a:xfrm>
          <a:prstGeom prst="rect">
            <a:avLst/>
          </a:prstGeom>
          <a:noFill/>
          <a:ln/>
        </p:spPr>
        <p:txBody>
          <a:bodyPr wrap="square" rtlCol="0" anchor="ctr"/>
          <a:lstStyle/>
          <a:p>
            <a:pPr indent="0" marL="0">
              <a:buNone/>
            </a:pPr>
            <a:r>
              <a:rPr lang="en-US" sz="1300" b="1" dirty="0">
                <a:solidFill>
                  <a:srgbClr val="C8922A"/>
                </a:solidFill>
                <a:latin typeface="Cambria" pitchFamily="34" charset="0"/>
                <a:ea typeface="Cambria" pitchFamily="34" charset="-122"/>
                <a:cs typeface="Cambria" pitchFamily="34" charset="-120"/>
              </a:rPr>
              <a:t>Foreign Direct Investment (FDI)</a:t>
            </a:r>
            <a:endParaRPr lang="en-US" sz="1300" dirty="0"/>
          </a:p>
        </p:txBody>
      </p:sp>
      <p:sp>
        <p:nvSpPr>
          <p:cNvPr id="8" name="Text 6"/>
          <p:cNvSpPr/>
          <p:nvPr/>
        </p:nvSpPr>
        <p:spPr>
          <a:xfrm>
            <a:off x="530352" y="1682496"/>
            <a:ext cx="3749040" cy="914400"/>
          </a:xfrm>
          <a:prstGeom prst="rect">
            <a:avLst/>
          </a:prstGeom>
          <a:noFill/>
          <a:ln/>
        </p:spPr>
        <p:txBody>
          <a:bodyPr wrap="square" rtlCol="0" anchor="t"/>
          <a:lstStyle/>
          <a:p>
            <a:pPr indent="0" marL="0">
              <a:lnSpc>
                <a:spcPct val="130000"/>
              </a:lnSpc>
              <a:buNone/>
            </a:pPr>
            <a:r>
              <a:rPr lang="en-US" sz="1000" dirty="0">
                <a:solidFill>
                  <a:srgbClr val="CCDDEE"/>
                </a:solidFill>
                <a:latin typeface="Calibri" pitchFamily="34" charset="0"/>
                <a:ea typeface="Calibri" pitchFamily="34" charset="-122"/>
                <a:cs typeface="Calibri" pitchFamily="34" charset="-120"/>
              </a:rPr>
              <a:t>$10B Clayton, NC commitment = market-seeking FDI. No longer efficiency-driven — purely defensive access play driven by tariff risk. Catalent acquisition ($11.7B) = same logic, faster execution.</a:t>
            </a:r>
            <a:endParaRPr lang="en-US" sz="1000" dirty="0"/>
          </a:p>
        </p:txBody>
      </p:sp>
      <p:sp>
        <p:nvSpPr>
          <p:cNvPr id="9" name="Shape 7"/>
          <p:cNvSpPr/>
          <p:nvPr/>
        </p:nvSpPr>
        <p:spPr>
          <a:xfrm>
            <a:off x="365760" y="2788920"/>
            <a:ext cx="4023360" cy="1371600"/>
          </a:xfrm>
          <a:prstGeom prst="rect">
            <a:avLst/>
          </a:prstGeom>
          <a:solidFill>
            <a:srgbClr val="1A3A5C"/>
          </a:solidFill>
          <a:ln w="12700">
            <a:solidFill>
              <a:srgbClr val="1A3A5C"/>
            </a:solidFill>
            <a:prstDash val="solid"/>
          </a:ln>
        </p:spPr>
      </p:sp>
      <p:sp>
        <p:nvSpPr>
          <p:cNvPr id="10" name="Shape 8"/>
          <p:cNvSpPr/>
          <p:nvPr/>
        </p:nvSpPr>
        <p:spPr>
          <a:xfrm>
            <a:off x="365760" y="2788920"/>
            <a:ext cx="54864" cy="1371600"/>
          </a:xfrm>
          <a:prstGeom prst="rect">
            <a:avLst/>
          </a:prstGeom>
          <a:solidFill>
            <a:srgbClr val="0E8A7A"/>
          </a:solidFill>
          <a:ln w="12700">
            <a:solidFill>
              <a:srgbClr val="0E8A7A"/>
            </a:solidFill>
            <a:prstDash val="solid"/>
          </a:ln>
        </p:spPr>
      </p:sp>
      <p:sp>
        <p:nvSpPr>
          <p:cNvPr id="11" name="Text 9"/>
          <p:cNvSpPr/>
          <p:nvPr/>
        </p:nvSpPr>
        <p:spPr>
          <a:xfrm>
            <a:off x="530352" y="2880360"/>
            <a:ext cx="3749040" cy="320040"/>
          </a:xfrm>
          <a:prstGeom prst="rect">
            <a:avLst/>
          </a:prstGeom>
          <a:noFill/>
          <a:ln/>
        </p:spPr>
        <p:txBody>
          <a:bodyPr wrap="square" rtlCol="0" anchor="ctr"/>
          <a:lstStyle/>
          <a:p>
            <a:pPr indent="0" marL="0">
              <a:buNone/>
            </a:pPr>
            <a:r>
              <a:rPr lang="en-US" sz="1300" b="1" dirty="0">
                <a:solidFill>
                  <a:srgbClr val="C8922A"/>
                </a:solidFill>
                <a:latin typeface="Cambria" pitchFamily="34" charset="0"/>
                <a:ea typeface="Cambria" pitchFamily="34" charset="-122"/>
                <a:cs typeface="Cambria" pitchFamily="34" charset="-120"/>
              </a:rPr>
              <a:t>Comparative Advantage</a:t>
            </a:r>
            <a:endParaRPr lang="en-US" sz="1300" dirty="0"/>
          </a:p>
        </p:txBody>
      </p:sp>
      <p:sp>
        <p:nvSpPr>
          <p:cNvPr id="12" name="Text 10"/>
          <p:cNvSpPr/>
          <p:nvPr/>
        </p:nvSpPr>
        <p:spPr>
          <a:xfrm>
            <a:off x="530352" y="3191256"/>
            <a:ext cx="3749040" cy="914400"/>
          </a:xfrm>
          <a:prstGeom prst="rect">
            <a:avLst/>
          </a:prstGeom>
          <a:noFill/>
          <a:ln/>
        </p:spPr>
        <p:txBody>
          <a:bodyPr wrap="square" rtlCol="0" anchor="t"/>
          <a:lstStyle/>
          <a:p>
            <a:pPr indent="0" marL="0">
              <a:lnSpc>
                <a:spcPct val="130000"/>
              </a:lnSpc>
              <a:buNone/>
            </a:pPr>
            <a:r>
              <a:rPr lang="en-US" sz="1000" dirty="0">
                <a:solidFill>
                  <a:srgbClr val="CCDDEE"/>
                </a:solidFill>
                <a:latin typeface="Calibri" pitchFamily="34" charset="0"/>
                <a:ea typeface="Calibri" pitchFamily="34" charset="-122"/>
                <a:cs typeface="Calibri" pitchFamily="34" charset="-120"/>
              </a:rPr>
              <a:t>Denmark's biotech expertise gave genuine production advantage. Trump's tariffs represent a government-imposed distortion of comparative advantage — forcing less efficient production locations for political rather than economic reasons.</a:t>
            </a:r>
            <a:endParaRPr lang="en-US" sz="1000" dirty="0"/>
          </a:p>
        </p:txBody>
      </p:sp>
      <p:sp>
        <p:nvSpPr>
          <p:cNvPr id="13" name="Shape 11"/>
          <p:cNvSpPr/>
          <p:nvPr/>
        </p:nvSpPr>
        <p:spPr>
          <a:xfrm>
            <a:off x="4754880" y="1280160"/>
            <a:ext cx="4023360" cy="1371600"/>
          </a:xfrm>
          <a:prstGeom prst="rect">
            <a:avLst/>
          </a:prstGeom>
          <a:solidFill>
            <a:srgbClr val="1A4060"/>
          </a:solidFill>
          <a:ln w="12700">
            <a:solidFill>
              <a:srgbClr val="1A4060"/>
            </a:solidFill>
            <a:prstDash val="solid"/>
          </a:ln>
        </p:spPr>
      </p:sp>
      <p:sp>
        <p:nvSpPr>
          <p:cNvPr id="14" name="Shape 12"/>
          <p:cNvSpPr/>
          <p:nvPr/>
        </p:nvSpPr>
        <p:spPr>
          <a:xfrm>
            <a:off x="4754880" y="1280160"/>
            <a:ext cx="54864" cy="1371600"/>
          </a:xfrm>
          <a:prstGeom prst="rect">
            <a:avLst/>
          </a:prstGeom>
          <a:solidFill>
            <a:srgbClr val="0E8A7A"/>
          </a:solidFill>
          <a:ln w="12700">
            <a:solidFill>
              <a:srgbClr val="0E8A7A"/>
            </a:solidFill>
            <a:prstDash val="solid"/>
          </a:ln>
        </p:spPr>
      </p:sp>
      <p:sp>
        <p:nvSpPr>
          <p:cNvPr id="15" name="Text 13"/>
          <p:cNvSpPr/>
          <p:nvPr/>
        </p:nvSpPr>
        <p:spPr>
          <a:xfrm>
            <a:off x="4919472" y="1371600"/>
            <a:ext cx="3749040" cy="320040"/>
          </a:xfrm>
          <a:prstGeom prst="rect">
            <a:avLst/>
          </a:prstGeom>
          <a:noFill/>
          <a:ln/>
        </p:spPr>
        <p:txBody>
          <a:bodyPr wrap="square" rtlCol="0" anchor="ctr"/>
          <a:lstStyle/>
          <a:p>
            <a:pPr indent="0" marL="0">
              <a:buNone/>
            </a:pPr>
            <a:r>
              <a:rPr lang="en-US" sz="1300" b="1" dirty="0">
                <a:solidFill>
                  <a:srgbClr val="C8922A"/>
                </a:solidFill>
                <a:latin typeface="Cambria" pitchFamily="34" charset="0"/>
                <a:ea typeface="Cambria" pitchFamily="34" charset="-122"/>
                <a:cs typeface="Cambria" pitchFamily="34" charset="-120"/>
              </a:rPr>
              <a:t>Non-Tariff Trade Barriers</a:t>
            </a:r>
            <a:endParaRPr lang="en-US" sz="1300" dirty="0"/>
          </a:p>
        </p:txBody>
      </p:sp>
      <p:sp>
        <p:nvSpPr>
          <p:cNvPr id="16" name="Text 14"/>
          <p:cNvSpPr/>
          <p:nvPr/>
        </p:nvSpPr>
        <p:spPr>
          <a:xfrm>
            <a:off x="4919472" y="1682496"/>
            <a:ext cx="3749040" cy="914400"/>
          </a:xfrm>
          <a:prstGeom prst="rect">
            <a:avLst/>
          </a:prstGeom>
          <a:noFill/>
          <a:ln/>
        </p:spPr>
        <p:txBody>
          <a:bodyPr wrap="square" rtlCol="0" anchor="t"/>
          <a:lstStyle/>
          <a:p>
            <a:pPr indent="0" marL="0">
              <a:lnSpc>
                <a:spcPct val="130000"/>
              </a:lnSpc>
              <a:buNone/>
            </a:pPr>
            <a:r>
              <a:rPr lang="en-US" sz="1000" dirty="0">
                <a:solidFill>
                  <a:srgbClr val="CCDDEE"/>
                </a:solidFill>
                <a:latin typeface="Calibri" pitchFamily="34" charset="0"/>
                <a:ea typeface="Calibri" pitchFamily="34" charset="-122"/>
                <a:cs typeface="Calibri" pitchFamily="34" charset="-120"/>
              </a:rPr>
              <a:t>MFN pricing mandates are more damaging than the tariffs themselves. By exporting foreign price controls into the U.S. market without restricting trade volumes, the administration imposed a de facto revenue tax on foreign pharma.</a:t>
            </a:r>
            <a:endParaRPr lang="en-US" sz="1000" dirty="0"/>
          </a:p>
        </p:txBody>
      </p:sp>
      <p:sp>
        <p:nvSpPr>
          <p:cNvPr id="17" name="Shape 15"/>
          <p:cNvSpPr/>
          <p:nvPr/>
        </p:nvSpPr>
        <p:spPr>
          <a:xfrm>
            <a:off x="4754880" y="2788920"/>
            <a:ext cx="4023360" cy="1371600"/>
          </a:xfrm>
          <a:prstGeom prst="rect">
            <a:avLst/>
          </a:prstGeom>
          <a:solidFill>
            <a:srgbClr val="0A3020"/>
          </a:solidFill>
          <a:ln w="12700">
            <a:solidFill>
              <a:srgbClr val="0A3020"/>
            </a:solidFill>
            <a:prstDash val="solid"/>
          </a:ln>
        </p:spPr>
      </p:sp>
      <p:sp>
        <p:nvSpPr>
          <p:cNvPr id="18" name="Shape 16"/>
          <p:cNvSpPr/>
          <p:nvPr/>
        </p:nvSpPr>
        <p:spPr>
          <a:xfrm>
            <a:off x="4754880" y="2788920"/>
            <a:ext cx="54864" cy="1371600"/>
          </a:xfrm>
          <a:prstGeom prst="rect">
            <a:avLst/>
          </a:prstGeom>
          <a:solidFill>
            <a:srgbClr val="0E8A7A"/>
          </a:solidFill>
          <a:ln w="12700">
            <a:solidFill>
              <a:srgbClr val="0E8A7A"/>
            </a:solidFill>
            <a:prstDash val="solid"/>
          </a:ln>
        </p:spPr>
      </p:sp>
      <p:sp>
        <p:nvSpPr>
          <p:cNvPr id="19" name="Text 17"/>
          <p:cNvSpPr/>
          <p:nvPr/>
        </p:nvSpPr>
        <p:spPr>
          <a:xfrm>
            <a:off x="4919472" y="2880360"/>
            <a:ext cx="3749040" cy="320040"/>
          </a:xfrm>
          <a:prstGeom prst="rect">
            <a:avLst/>
          </a:prstGeom>
          <a:noFill/>
          <a:ln/>
        </p:spPr>
        <p:txBody>
          <a:bodyPr wrap="square" rtlCol="0" anchor="ctr"/>
          <a:lstStyle/>
          <a:p>
            <a:pPr indent="0" marL="0">
              <a:buNone/>
            </a:pPr>
            <a:r>
              <a:rPr lang="en-US" sz="1300" b="1" dirty="0">
                <a:solidFill>
                  <a:srgbClr val="C8922A"/>
                </a:solidFill>
                <a:latin typeface="Cambria" pitchFamily="34" charset="0"/>
                <a:ea typeface="Cambria" pitchFamily="34" charset="-122"/>
                <a:cs typeface="Cambria" pitchFamily="34" charset="-120"/>
              </a:rPr>
              <a:t>Strategic Trade Policy</a:t>
            </a:r>
            <a:endParaRPr lang="en-US" sz="1300" dirty="0"/>
          </a:p>
        </p:txBody>
      </p:sp>
      <p:sp>
        <p:nvSpPr>
          <p:cNvPr id="20" name="Text 18"/>
          <p:cNvSpPr/>
          <p:nvPr/>
        </p:nvSpPr>
        <p:spPr>
          <a:xfrm>
            <a:off x="4919472" y="3191256"/>
            <a:ext cx="3749040" cy="914400"/>
          </a:xfrm>
          <a:prstGeom prst="rect">
            <a:avLst/>
          </a:prstGeom>
          <a:noFill/>
          <a:ln/>
        </p:spPr>
        <p:txBody>
          <a:bodyPr wrap="square" rtlCol="0" anchor="t"/>
          <a:lstStyle/>
          <a:p>
            <a:pPr indent="0" marL="0">
              <a:lnSpc>
                <a:spcPct val="130000"/>
              </a:lnSpc>
              <a:buNone/>
            </a:pPr>
            <a:r>
              <a:rPr lang="en-US" sz="1000" dirty="0">
                <a:solidFill>
                  <a:srgbClr val="CCDDEE"/>
                </a:solidFill>
                <a:latin typeface="Calibri" pitchFamily="34" charset="0"/>
                <a:ea typeface="Calibri" pitchFamily="34" charset="-122"/>
                <a:cs typeface="Calibri" pitchFamily="34" charset="-120"/>
              </a:rPr>
              <a:t>The entire policy framework advantages Eli Lilly (domestic) over Novo Nordisk (foreign). Classic strategic trade policy — government using trade tools to redirect production and profit toward domestic firms. Hill, Ch. 7–8: echoes Smoot-Hawley logic.</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64592"/>
            <a:ext cx="8412480" cy="27432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SECTION F  ·  TRADE STRATEGY RECOMMENDATION</a:t>
            </a:r>
            <a:endParaRPr lang="en-US" sz="900" dirty="0"/>
          </a:p>
        </p:txBody>
      </p:sp>
      <p:sp>
        <p:nvSpPr>
          <p:cNvPr id="3" name="Text 1"/>
          <p:cNvSpPr/>
          <p:nvPr/>
        </p:nvSpPr>
        <p:spPr>
          <a:xfrm>
            <a:off x="365760" y="475488"/>
            <a:ext cx="8412480" cy="68580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Three-Phase Strategy Roadmap</a:t>
            </a:r>
            <a:endParaRPr lang="en-US" sz="3000" dirty="0"/>
          </a:p>
        </p:txBody>
      </p:sp>
      <p:sp>
        <p:nvSpPr>
          <p:cNvPr id="4" name="Shape 2"/>
          <p:cNvSpPr/>
          <p:nvPr/>
        </p:nvSpPr>
        <p:spPr>
          <a:xfrm>
            <a:off x="365760" y="1170432"/>
            <a:ext cx="1097280" cy="45720"/>
          </a:xfrm>
          <a:prstGeom prst="rect">
            <a:avLst/>
          </a:prstGeom>
          <a:solidFill>
            <a:srgbClr val="0E8A7A"/>
          </a:solidFill>
          <a:ln w="12700">
            <a:solidFill>
              <a:srgbClr val="0E8A7A"/>
            </a:solidFill>
            <a:prstDash val="solid"/>
          </a:ln>
        </p:spPr>
      </p:sp>
      <p:sp>
        <p:nvSpPr>
          <p:cNvPr id="5" name="Shape 3"/>
          <p:cNvSpPr/>
          <p:nvPr/>
        </p:nvSpPr>
        <p:spPr>
          <a:xfrm>
            <a:off x="365760" y="1325880"/>
            <a:ext cx="2743200" cy="3474720"/>
          </a:xfrm>
          <a:prstGeom prst="rect">
            <a:avLst/>
          </a:prstGeom>
          <a:solidFill>
            <a:srgbClr val="1A3A5C"/>
          </a:solidFill>
          <a:ln w="12700">
            <a:solidFill>
              <a:srgbClr val="1A3A5C"/>
            </a:solidFill>
            <a:prstDash val="solid"/>
          </a:ln>
        </p:spPr>
      </p:sp>
      <p:sp>
        <p:nvSpPr>
          <p:cNvPr id="6" name="Shape 4"/>
          <p:cNvSpPr/>
          <p:nvPr/>
        </p:nvSpPr>
        <p:spPr>
          <a:xfrm>
            <a:off x="365760" y="1325880"/>
            <a:ext cx="2743200" cy="54864"/>
          </a:xfrm>
          <a:prstGeom prst="rect">
            <a:avLst/>
          </a:prstGeom>
          <a:solidFill>
            <a:srgbClr val="C0392B"/>
          </a:solidFill>
          <a:ln w="12700">
            <a:solidFill>
              <a:srgbClr val="C0392B"/>
            </a:solidFill>
            <a:prstDash val="solid"/>
          </a:ln>
        </p:spPr>
      </p:sp>
      <p:sp>
        <p:nvSpPr>
          <p:cNvPr id="7" name="Text 5"/>
          <p:cNvSpPr/>
          <p:nvPr/>
        </p:nvSpPr>
        <p:spPr>
          <a:xfrm>
            <a:off x="475488" y="1389888"/>
            <a:ext cx="2523744" cy="256032"/>
          </a:xfrm>
          <a:prstGeom prst="rect">
            <a:avLst/>
          </a:prstGeom>
          <a:noFill/>
          <a:ln/>
        </p:spPr>
        <p:txBody>
          <a:bodyPr wrap="square" rtlCol="0" anchor="ctr"/>
          <a:lstStyle/>
          <a:p>
            <a:pPr indent="0" marL="0">
              <a:buNone/>
            </a:pPr>
            <a:r>
              <a:rPr lang="en-US" sz="900" b="1" spc="200" kern="0" dirty="0">
                <a:solidFill>
                  <a:srgbClr val="C0392B"/>
                </a:solidFill>
                <a:latin typeface="Calibri" pitchFamily="34" charset="0"/>
                <a:ea typeface="Calibri" pitchFamily="34" charset="-122"/>
                <a:cs typeface="Calibri" pitchFamily="34" charset="-120"/>
              </a:rPr>
              <a:t>PHASE 1</a:t>
            </a:r>
            <a:endParaRPr lang="en-US" sz="900" dirty="0"/>
          </a:p>
        </p:txBody>
      </p:sp>
      <p:sp>
        <p:nvSpPr>
          <p:cNvPr id="8" name="Text 6"/>
          <p:cNvSpPr/>
          <p:nvPr/>
        </p:nvSpPr>
        <p:spPr>
          <a:xfrm>
            <a:off x="475488" y="1627632"/>
            <a:ext cx="2523744" cy="274320"/>
          </a:xfrm>
          <a:prstGeom prst="rect">
            <a:avLst/>
          </a:prstGeom>
          <a:noFill/>
          <a:ln/>
        </p:spPr>
        <p:txBody>
          <a:bodyPr wrap="square" rtlCol="0" anchor="ctr"/>
          <a:lstStyle/>
          <a:p>
            <a:pPr indent="0" marL="0">
              <a:buNone/>
            </a:pPr>
            <a:r>
              <a:rPr lang="en-US" sz="1100" b="1" dirty="0">
                <a:solidFill>
                  <a:srgbClr val="C8922A"/>
                </a:solidFill>
                <a:latin typeface="Calibri" pitchFamily="34" charset="0"/>
                <a:ea typeface="Calibri" pitchFamily="34" charset="-122"/>
                <a:cs typeface="Calibri" pitchFamily="34" charset="-120"/>
              </a:rPr>
              <a:t>0–12 Months</a:t>
            </a:r>
            <a:endParaRPr lang="en-US" sz="1100" dirty="0"/>
          </a:p>
        </p:txBody>
      </p:sp>
      <p:sp>
        <p:nvSpPr>
          <p:cNvPr id="9" name="Text 7"/>
          <p:cNvSpPr/>
          <p:nvPr/>
        </p:nvSpPr>
        <p:spPr>
          <a:xfrm>
            <a:off x="475488" y="1883664"/>
            <a:ext cx="2523744" cy="5943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Secure</a:t>
            </a:r>
            <a:endParaRPr lang="en-US" sz="1500" dirty="0"/>
          </a:p>
          <a:p>
            <a:pPr indent="0" marL="0">
              <a:buNone/>
            </a:pPr>
            <a:r>
              <a:rPr lang="en-US" sz="1500" b="1" dirty="0">
                <a:solidFill>
                  <a:srgbClr val="FFFFFF"/>
                </a:solidFill>
                <a:latin typeface="Cambria" pitchFamily="34" charset="0"/>
                <a:ea typeface="Cambria" pitchFamily="34" charset="-122"/>
                <a:cs typeface="Cambria" pitchFamily="34" charset="-120"/>
              </a:rPr>
              <a:t>Market Access</a:t>
            </a:r>
            <a:endParaRPr lang="en-US" sz="1500" dirty="0"/>
          </a:p>
        </p:txBody>
      </p:sp>
      <p:sp>
        <p:nvSpPr>
          <p:cNvPr id="10" name="Text 8"/>
          <p:cNvSpPr/>
          <p:nvPr/>
        </p:nvSpPr>
        <p:spPr>
          <a:xfrm>
            <a:off x="475488" y="25146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Accept up to 82% price cuts for government programs</a:t>
            </a:r>
            <a:endParaRPr lang="en-US" sz="1000" dirty="0"/>
          </a:p>
        </p:txBody>
      </p:sp>
      <p:sp>
        <p:nvSpPr>
          <p:cNvPr id="11" name="Text 9"/>
          <p:cNvSpPr/>
          <p:nvPr/>
        </p:nvSpPr>
        <p:spPr>
          <a:xfrm>
            <a:off x="475488" y="29718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Commit $10B to U.S. manufacturing</a:t>
            </a:r>
            <a:endParaRPr lang="en-US" sz="1000" dirty="0"/>
          </a:p>
        </p:txBody>
      </p:sp>
      <p:sp>
        <p:nvSpPr>
          <p:cNvPr id="12" name="Text 10"/>
          <p:cNvSpPr/>
          <p:nvPr/>
        </p:nvSpPr>
        <p:spPr>
          <a:xfrm>
            <a:off x="475488" y="34290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Secure Medicare/Medicaid coverage at negotiated rates</a:t>
            </a:r>
            <a:endParaRPr lang="en-US" sz="1000" dirty="0"/>
          </a:p>
        </p:txBody>
      </p:sp>
      <p:sp>
        <p:nvSpPr>
          <p:cNvPr id="13" name="Text 11"/>
          <p:cNvSpPr/>
          <p:nvPr/>
        </p:nvSpPr>
        <p:spPr>
          <a:xfrm>
            <a:off x="475488" y="38862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Convert tariff headwind into managed cost</a:t>
            </a:r>
            <a:endParaRPr lang="en-US" sz="1000" dirty="0"/>
          </a:p>
        </p:txBody>
      </p:sp>
      <p:sp>
        <p:nvSpPr>
          <p:cNvPr id="14" name="Shape 12"/>
          <p:cNvSpPr/>
          <p:nvPr/>
        </p:nvSpPr>
        <p:spPr>
          <a:xfrm>
            <a:off x="3291840" y="1325880"/>
            <a:ext cx="2743200" cy="3474720"/>
          </a:xfrm>
          <a:prstGeom prst="rect">
            <a:avLst/>
          </a:prstGeom>
          <a:solidFill>
            <a:srgbClr val="1A3A5C"/>
          </a:solidFill>
          <a:ln w="12700">
            <a:solidFill>
              <a:srgbClr val="1A3A5C"/>
            </a:solidFill>
            <a:prstDash val="solid"/>
          </a:ln>
        </p:spPr>
      </p:sp>
      <p:sp>
        <p:nvSpPr>
          <p:cNvPr id="15" name="Shape 13"/>
          <p:cNvSpPr/>
          <p:nvPr/>
        </p:nvSpPr>
        <p:spPr>
          <a:xfrm>
            <a:off x="3291840" y="1325880"/>
            <a:ext cx="2743200" cy="54864"/>
          </a:xfrm>
          <a:prstGeom prst="rect">
            <a:avLst/>
          </a:prstGeom>
          <a:solidFill>
            <a:srgbClr val="C8922A"/>
          </a:solidFill>
          <a:ln w="12700">
            <a:solidFill>
              <a:srgbClr val="C8922A"/>
            </a:solidFill>
            <a:prstDash val="solid"/>
          </a:ln>
        </p:spPr>
      </p:sp>
      <p:sp>
        <p:nvSpPr>
          <p:cNvPr id="16" name="Text 14"/>
          <p:cNvSpPr/>
          <p:nvPr/>
        </p:nvSpPr>
        <p:spPr>
          <a:xfrm>
            <a:off x="3401568" y="1389888"/>
            <a:ext cx="2523744" cy="256032"/>
          </a:xfrm>
          <a:prstGeom prst="rect">
            <a:avLst/>
          </a:prstGeom>
          <a:noFill/>
          <a:ln/>
        </p:spPr>
        <p:txBody>
          <a:bodyPr wrap="square" rtlCol="0" anchor="ctr"/>
          <a:lstStyle/>
          <a:p>
            <a:pPr indent="0" marL="0">
              <a:buNone/>
            </a:pPr>
            <a:r>
              <a:rPr lang="en-US" sz="900" b="1" spc="200" kern="0" dirty="0">
                <a:solidFill>
                  <a:srgbClr val="C8922A"/>
                </a:solidFill>
                <a:latin typeface="Calibri" pitchFamily="34" charset="0"/>
                <a:ea typeface="Calibri" pitchFamily="34" charset="-122"/>
                <a:cs typeface="Calibri" pitchFamily="34" charset="-120"/>
              </a:rPr>
              <a:t>PHASE 2</a:t>
            </a:r>
            <a:endParaRPr lang="en-US" sz="900" dirty="0"/>
          </a:p>
        </p:txBody>
      </p:sp>
      <p:sp>
        <p:nvSpPr>
          <p:cNvPr id="17" name="Text 15"/>
          <p:cNvSpPr/>
          <p:nvPr/>
        </p:nvSpPr>
        <p:spPr>
          <a:xfrm>
            <a:off x="3401568" y="1627632"/>
            <a:ext cx="2523744" cy="274320"/>
          </a:xfrm>
          <a:prstGeom prst="rect">
            <a:avLst/>
          </a:prstGeom>
          <a:noFill/>
          <a:ln/>
        </p:spPr>
        <p:txBody>
          <a:bodyPr wrap="square" rtlCol="0" anchor="ctr"/>
          <a:lstStyle/>
          <a:p>
            <a:pPr indent="0" marL="0">
              <a:buNone/>
            </a:pPr>
            <a:r>
              <a:rPr lang="en-US" sz="1100" b="1" dirty="0">
                <a:solidFill>
                  <a:srgbClr val="C8922A"/>
                </a:solidFill>
                <a:latin typeface="Calibri" pitchFamily="34" charset="0"/>
                <a:ea typeface="Calibri" pitchFamily="34" charset="-122"/>
                <a:cs typeface="Calibri" pitchFamily="34" charset="-120"/>
              </a:rPr>
              <a:t>1–3 Years</a:t>
            </a:r>
            <a:endParaRPr lang="en-US" sz="1100" dirty="0"/>
          </a:p>
        </p:txBody>
      </p:sp>
      <p:sp>
        <p:nvSpPr>
          <p:cNvPr id="18" name="Text 16"/>
          <p:cNvSpPr/>
          <p:nvPr/>
        </p:nvSpPr>
        <p:spPr>
          <a:xfrm>
            <a:off x="3401568" y="1883664"/>
            <a:ext cx="2523744" cy="5943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Embed in the</a:t>
            </a:r>
            <a:endParaRPr lang="en-US" sz="1500" dirty="0"/>
          </a:p>
          <a:p>
            <a:pPr indent="0" marL="0">
              <a:buNone/>
            </a:pPr>
            <a:r>
              <a:rPr lang="en-US" sz="1500" b="1" dirty="0">
                <a:solidFill>
                  <a:srgbClr val="FFFFFF"/>
                </a:solidFill>
                <a:latin typeface="Cambria" pitchFamily="34" charset="0"/>
                <a:ea typeface="Cambria" pitchFamily="34" charset="-122"/>
                <a:cs typeface="Cambria" pitchFamily="34" charset="-120"/>
              </a:rPr>
              <a:t>U.S. Economy</a:t>
            </a:r>
            <a:endParaRPr lang="en-US" sz="1500" dirty="0"/>
          </a:p>
        </p:txBody>
      </p:sp>
      <p:sp>
        <p:nvSpPr>
          <p:cNvPr id="19" name="Text 17"/>
          <p:cNvSpPr/>
          <p:nvPr/>
        </p:nvSpPr>
        <p:spPr>
          <a:xfrm>
            <a:off x="3401568" y="25146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Accelerate Clayton, NC facility (target 2029)</a:t>
            </a:r>
            <a:endParaRPr lang="en-US" sz="1000" dirty="0"/>
          </a:p>
        </p:txBody>
      </p:sp>
      <p:sp>
        <p:nvSpPr>
          <p:cNvPr id="20" name="Text 18"/>
          <p:cNvSpPr/>
          <p:nvPr/>
        </p:nvSpPr>
        <p:spPr>
          <a:xfrm>
            <a:off x="3401568" y="29718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Build U.S.-centric supply chain</a:t>
            </a:r>
            <a:endParaRPr lang="en-US" sz="1000" dirty="0"/>
          </a:p>
        </p:txBody>
      </p:sp>
      <p:sp>
        <p:nvSpPr>
          <p:cNvPr id="21" name="Text 19"/>
          <p:cNvSpPr/>
          <p:nvPr/>
        </p:nvSpPr>
        <p:spPr>
          <a:xfrm>
            <a:off x="3401568" y="34290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Create domestic political constituencies</a:t>
            </a:r>
            <a:endParaRPr lang="en-US" sz="1000" dirty="0"/>
          </a:p>
        </p:txBody>
      </p:sp>
      <p:sp>
        <p:nvSpPr>
          <p:cNvPr id="22" name="Text 20"/>
          <p:cNvSpPr/>
          <p:nvPr/>
        </p:nvSpPr>
        <p:spPr>
          <a:xfrm>
            <a:off x="3401568" y="38862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Leverage Catalent acquisition for speed</a:t>
            </a:r>
            <a:endParaRPr lang="en-US" sz="1000" dirty="0"/>
          </a:p>
        </p:txBody>
      </p:sp>
      <p:sp>
        <p:nvSpPr>
          <p:cNvPr id="23" name="Shape 21"/>
          <p:cNvSpPr/>
          <p:nvPr/>
        </p:nvSpPr>
        <p:spPr>
          <a:xfrm>
            <a:off x="6217920" y="1325880"/>
            <a:ext cx="2743200" cy="3474720"/>
          </a:xfrm>
          <a:prstGeom prst="rect">
            <a:avLst/>
          </a:prstGeom>
          <a:solidFill>
            <a:srgbClr val="1A3A5C"/>
          </a:solidFill>
          <a:ln w="12700">
            <a:solidFill>
              <a:srgbClr val="1A3A5C"/>
            </a:solidFill>
            <a:prstDash val="solid"/>
          </a:ln>
        </p:spPr>
      </p:sp>
      <p:sp>
        <p:nvSpPr>
          <p:cNvPr id="24" name="Shape 22"/>
          <p:cNvSpPr/>
          <p:nvPr/>
        </p:nvSpPr>
        <p:spPr>
          <a:xfrm>
            <a:off x="6217920" y="1325880"/>
            <a:ext cx="2743200" cy="54864"/>
          </a:xfrm>
          <a:prstGeom prst="rect">
            <a:avLst/>
          </a:prstGeom>
          <a:solidFill>
            <a:srgbClr val="0E8A7A"/>
          </a:solidFill>
          <a:ln w="12700">
            <a:solidFill>
              <a:srgbClr val="0E8A7A"/>
            </a:solidFill>
            <a:prstDash val="solid"/>
          </a:ln>
        </p:spPr>
      </p:sp>
      <p:sp>
        <p:nvSpPr>
          <p:cNvPr id="25" name="Text 23"/>
          <p:cNvSpPr/>
          <p:nvPr/>
        </p:nvSpPr>
        <p:spPr>
          <a:xfrm>
            <a:off x="6327648" y="1389888"/>
            <a:ext cx="2523744" cy="256032"/>
          </a:xfrm>
          <a:prstGeom prst="rect">
            <a:avLst/>
          </a:prstGeom>
          <a:noFill/>
          <a:ln/>
        </p:spPr>
        <p:txBody>
          <a:bodyPr wrap="square" rtlCol="0" anchor="ctr"/>
          <a:lstStyle/>
          <a:p>
            <a:pPr indent="0" marL="0">
              <a:buNone/>
            </a:pPr>
            <a:r>
              <a:rPr lang="en-US" sz="900" b="1" spc="200" kern="0" dirty="0">
                <a:solidFill>
                  <a:srgbClr val="0E8A7A"/>
                </a:solidFill>
                <a:latin typeface="Calibri" pitchFamily="34" charset="0"/>
                <a:ea typeface="Calibri" pitchFamily="34" charset="-122"/>
                <a:cs typeface="Calibri" pitchFamily="34" charset="-120"/>
              </a:rPr>
              <a:t>PHASE 3</a:t>
            </a:r>
            <a:endParaRPr lang="en-US" sz="900" dirty="0"/>
          </a:p>
        </p:txBody>
      </p:sp>
      <p:sp>
        <p:nvSpPr>
          <p:cNvPr id="26" name="Text 24"/>
          <p:cNvSpPr/>
          <p:nvPr/>
        </p:nvSpPr>
        <p:spPr>
          <a:xfrm>
            <a:off x="6327648" y="1627632"/>
            <a:ext cx="2523744" cy="274320"/>
          </a:xfrm>
          <a:prstGeom prst="rect">
            <a:avLst/>
          </a:prstGeom>
          <a:noFill/>
          <a:ln/>
        </p:spPr>
        <p:txBody>
          <a:bodyPr wrap="square" rtlCol="0" anchor="ctr"/>
          <a:lstStyle/>
          <a:p>
            <a:pPr indent="0" marL="0">
              <a:buNone/>
            </a:pPr>
            <a:r>
              <a:rPr lang="en-US" sz="1100" b="1" dirty="0">
                <a:solidFill>
                  <a:srgbClr val="C8922A"/>
                </a:solidFill>
                <a:latin typeface="Calibri" pitchFamily="34" charset="0"/>
                <a:ea typeface="Calibri" pitchFamily="34" charset="-122"/>
                <a:cs typeface="Calibri" pitchFamily="34" charset="-120"/>
              </a:rPr>
              <a:t>3–5 Years</a:t>
            </a:r>
            <a:endParaRPr lang="en-US" sz="1100" dirty="0"/>
          </a:p>
        </p:txBody>
      </p:sp>
      <p:sp>
        <p:nvSpPr>
          <p:cNvPr id="27" name="Text 25"/>
          <p:cNvSpPr/>
          <p:nvPr/>
        </p:nvSpPr>
        <p:spPr>
          <a:xfrm>
            <a:off x="6327648" y="1883664"/>
            <a:ext cx="2523744" cy="5943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Innovate Beyond</a:t>
            </a:r>
            <a:endParaRPr lang="en-US" sz="1500" dirty="0"/>
          </a:p>
          <a:p>
            <a:pPr indent="0" marL="0">
              <a:buNone/>
            </a:pPr>
            <a:r>
              <a:rPr lang="en-US" sz="1500" b="1" dirty="0">
                <a:solidFill>
                  <a:srgbClr val="FFFFFF"/>
                </a:solidFill>
                <a:latin typeface="Cambria" pitchFamily="34" charset="0"/>
                <a:ea typeface="Cambria" pitchFamily="34" charset="-122"/>
                <a:cs typeface="Cambria" pitchFamily="34" charset="-120"/>
              </a:rPr>
              <a:t>2032 Patent Cliff</a:t>
            </a:r>
            <a:endParaRPr lang="en-US" sz="1500" dirty="0"/>
          </a:p>
        </p:txBody>
      </p:sp>
      <p:sp>
        <p:nvSpPr>
          <p:cNvPr id="28" name="Text 26"/>
          <p:cNvSpPr/>
          <p:nvPr/>
        </p:nvSpPr>
        <p:spPr>
          <a:xfrm>
            <a:off x="6327648" y="25146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Oral Wegovy — FDA-approved, launched Jan 2026</a:t>
            </a:r>
            <a:endParaRPr lang="en-US" sz="1000" dirty="0"/>
          </a:p>
        </p:txBody>
      </p:sp>
      <p:sp>
        <p:nvSpPr>
          <p:cNvPr id="29" name="Text 27"/>
          <p:cNvSpPr/>
          <p:nvPr/>
        </p:nvSpPr>
        <p:spPr>
          <a:xfrm>
            <a:off x="6327648" y="29718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CagriSema: 22.7% weight loss, patent to 2037</a:t>
            </a:r>
            <a:endParaRPr lang="en-US" sz="1000" dirty="0"/>
          </a:p>
        </p:txBody>
      </p:sp>
      <p:sp>
        <p:nvSpPr>
          <p:cNvPr id="30" name="Text 28"/>
          <p:cNvSpPr/>
          <p:nvPr/>
        </p:nvSpPr>
        <p:spPr>
          <a:xfrm>
            <a:off x="6327648" y="34290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Alzheimer's &amp; MASH indications pipeline</a:t>
            </a:r>
            <a:endParaRPr lang="en-US" sz="1000" dirty="0"/>
          </a:p>
        </p:txBody>
      </p:sp>
      <p:sp>
        <p:nvSpPr>
          <p:cNvPr id="31" name="Text 29"/>
          <p:cNvSpPr/>
          <p:nvPr/>
        </p:nvSpPr>
        <p:spPr>
          <a:xfrm>
            <a:off x="6327648" y="3886200"/>
            <a:ext cx="2523744" cy="420624"/>
          </a:xfrm>
          <a:prstGeom prst="rect">
            <a:avLst/>
          </a:prstGeom>
          <a:noFill/>
          <a:ln/>
        </p:spPr>
        <p:txBody>
          <a:bodyPr wrap="square" rtlCol="0" anchor="t"/>
          <a:lstStyle/>
          <a:p>
            <a:pPr indent="0" marL="0">
              <a:buNone/>
            </a:pPr>
            <a:r>
              <a:rPr lang="en-US" sz="1000" dirty="0">
                <a:solidFill>
                  <a:srgbClr val="BBCCDD"/>
                </a:solidFill>
                <a:latin typeface="Calibri" pitchFamily="34" charset="0"/>
                <a:ea typeface="Calibri" pitchFamily="34" charset="-122"/>
                <a:cs typeface="Calibri" pitchFamily="34" charset="-120"/>
              </a:rPr>
              <a:t>→  Retain EU + neutral-market backup capacity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2744"/>
        </a:solidFill>
      </p:bgPr>
    </p:bg>
    <p:spTree>
      <p:nvGrpSpPr>
        <p:cNvPr id="1" name=""/>
        <p:cNvGrpSpPr/>
        <p:nvPr/>
      </p:nvGrpSpPr>
      <p:grpSpPr>
        <a:xfrm>
          <a:off x="0" y="0"/>
          <a:ext cx="0" cy="0"/>
          <a:chOff x="0" y="0"/>
          <a:chExt cx="0" cy="0"/>
        </a:xfrm>
      </p:grpSpPr>
      <p:sp>
        <p:nvSpPr>
          <p:cNvPr id="2" name="Text 0"/>
          <p:cNvSpPr/>
          <p:nvPr/>
        </p:nvSpPr>
        <p:spPr>
          <a:xfrm>
            <a:off x="365760" y="164592"/>
            <a:ext cx="8412480" cy="274320"/>
          </a:xfrm>
          <a:prstGeom prst="rect">
            <a:avLst/>
          </a:prstGeom>
          <a:noFill/>
          <a:ln/>
        </p:spPr>
        <p:txBody>
          <a:bodyPr wrap="square" rtlCol="0" anchor="ctr"/>
          <a:lstStyle/>
          <a:p>
            <a:pPr indent="0" marL="0">
              <a:buNone/>
            </a:pPr>
            <a:r>
              <a:rPr lang="en-US" sz="900" b="1" spc="400" kern="0" dirty="0">
                <a:solidFill>
                  <a:srgbClr val="14B8A6"/>
                </a:solidFill>
                <a:latin typeface="Calibri" pitchFamily="34" charset="0"/>
                <a:ea typeface="Calibri" pitchFamily="34" charset="-122"/>
                <a:cs typeface="Calibri" pitchFamily="34" charset="-120"/>
              </a:rPr>
              <a:t>SUMMARY  ·  KEY TAKEAWAYS</a:t>
            </a:r>
            <a:endParaRPr lang="en-US" sz="900" dirty="0"/>
          </a:p>
        </p:txBody>
      </p:sp>
      <p:sp>
        <p:nvSpPr>
          <p:cNvPr id="3" name="Text 1"/>
          <p:cNvSpPr/>
          <p:nvPr/>
        </p:nvSpPr>
        <p:spPr>
          <a:xfrm>
            <a:off x="365760" y="475488"/>
            <a:ext cx="8412480" cy="68580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 This Case Teaches Us</a:t>
            </a:r>
            <a:endParaRPr lang="en-US" sz="3000" dirty="0"/>
          </a:p>
        </p:txBody>
      </p:sp>
      <p:sp>
        <p:nvSpPr>
          <p:cNvPr id="4" name="Shape 2"/>
          <p:cNvSpPr/>
          <p:nvPr/>
        </p:nvSpPr>
        <p:spPr>
          <a:xfrm>
            <a:off x="365760" y="1170432"/>
            <a:ext cx="1097280" cy="45720"/>
          </a:xfrm>
          <a:prstGeom prst="rect">
            <a:avLst/>
          </a:prstGeom>
          <a:solidFill>
            <a:srgbClr val="0E8A7A"/>
          </a:solidFill>
          <a:ln w="12700">
            <a:solidFill>
              <a:srgbClr val="0E8A7A"/>
            </a:solidFill>
            <a:prstDash val="solid"/>
          </a:ln>
        </p:spPr>
      </p:sp>
      <p:sp>
        <p:nvSpPr>
          <p:cNvPr id="5" name="Shape 3"/>
          <p:cNvSpPr/>
          <p:nvPr/>
        </p:nvSpPr>
        <p:spPr>
          <a:xfrm>
            <a:off x="365760" y="1353312"/>
            <a:ext cx="420624" cy="694944"/>
          </a:xfrm>
          <a:prstGeom prst="rect">
            <a:avLst/>
          </a:prstGeom>
          <a:solidFill>
            <a:srgbClr val="C0392B"/>
          </a:solidFill>
          <a:ln w="12700">
            <a:solidFill>
              <a:srgbClr val="C0392B"/>
            </a:solidFill>
            <a:prstDash val="solid"/>
          </a:ln>
        </p:spPr>
      </p:sp>
      <p:sp>
        <p:nvSpPr>
          <p:cNvPr id="6" name="Text 4"/>
          <p:cNvSpPr/>
          <p:nvPr/>
        </p:nvSpPr>
        <p:spPr>
          <a:xfrm>
            <a:off x="365760" y="1463040"/>
            <a:ext cx="420624"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7" name="Text 5"/>
          <p:cNvSpPr/>
          <p:nvPr/>
        </p:nvSpPr>
        <p:spPr>
          <a:xfrm>
            <a:off x="960120" y="1389888"/>
            <a:ext cx="7772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Political Risk Can Override Economic Logic</a:t>
            </a:r>
            <a:endParaRPr lang="en-US" sz="1300" dirty="0"/>
          </a:p>
        </p:txBody>
      </p:sp>
      <p:sp>
        <p:nvSpPr>
          <p:cNvPr id="8" name="Text 6"/>
          <p:cNvSpPr/>
          <p:nvPr/>
        </p:nvSpPr>
        <p:spPr>
          <a:xfrm>
            <a:off x="960120" y="1673352"/>
            <a:ext cx="7772400" cy="347472"/>
          </a:xfrm>
          <a:prstGeom prst="rect">
            <a:avLst/>
          </a:prstGeom>
          <a:noFill/>
          <a:ln/>
        </p:spPr>
        <p:txBody>
          <a:bodyPr wrap="square" rtlCol="0" anchor="ctr"/>
          <a:lstStyle/>
          <a:p>
            <a:pPr indent="0" marL="0">
              <a:buNone/>
            </a:pPr>
            <a:r>
              <a:rPr lang="en-US" sz="1000" dirty="0">
                <a:solidFill>
                  <a:srgbClr val="BBCCDD"/>
                </a:solidFill>
                <a:latin typeface="Calibri" pitchFamily="34" charset="0"/>
                <a:ea typeface="Calibri" pitchFamily="34" charset="-122"/>
                <a:cs typeface="Calibri" pitchFamily="34" charset="-120"/>
              </a:rPr>
              <a:t>The tariff threat forced Novo Nordisk to accept less efficient U.S. production — a direct distortion of comparative advantage no strategic plan could have fully anticipated.</a:t>
            </a:r>
            <a:endParaRPr lang="en-US" sz="1000" dirty="0"/>
          </a:p>
        </p:txBody>
      </p:sp>
      <p:sp>
        <p:nvSpPr>
          <p:cNvPr id="9" name="Shape 7"/>
          <p:cNvSpPr/>
          <p:nvPr/>
        </p:nvSpPr>
        <p:spPr>
          <a:xfrm>
            <a:off x="365760" y="2249424"/>
            <a:ext cx="420624" cy="694944"/>
          </a:xfrm>
          <a:prstGeom prst="rect">
            <a:avLst/>
          </a:prstGeom>
          <a:solidFill>
            <a:srgbClr val="C8922A"/>
          </a:solidFill>
          <a:ln w="12700">
            <a:solidFill>
              <a:srgbClr val="C8922A"/>
            </a:solidFill>
            <a:prstDash val="solid"/>
          </a:ln>
        </p:spPr>
      </p:sp>
      <p:sp>
        <p:nvSpPr>
          <p:cNvPr id="10" name="Text 8"/>
          <p:cNvSpPr/>
          <p:nvPr/>
        </p:nvSpPr>
        <p:spPr>
          <a:xfrm>
            <a:off x="365760" y="2359152"/>
            <a:ext cx="420624"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11" name="Text 9"/>
          <p:cNvSpPr/>
          <p:nvPr/>
        </p:nvSpPr>
        <p:spPr>
          <a:xfrm>
            <a:off x="960120" y="2286000"/>
            <a:ext cx="7772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Non-Tariff Barriers Are Often More Damaging</a:t>
            </a:r>
            <a:endParaRPr lang="en-US" sz="1300" dirty="0"/>
          </a:p>
        </p:txBody>
      </p:sp>
      <p:sp>
        <p:nvSpPr>
          <p:cNvPr id="12" name="Text 10"/>
          <p:cNvSpPr/>
          <p:nvPr/>
        </p:nvSpPr>
        <p:spPr>
          <a:xfrm>
            <a:off x="960120" y="2569464"/>
            <a:ext cx="7772400" cy="347472"/>
          </a:xfrm>
          <a:prstGeom prst="rect">
            <a:avLst/>
          </a:prstGeom>
          <a:noFill/>
          <a:ln/>
        </p:spPr>
        <p:txBody>
          <a:bodyPr wrap="square" rtlCol="0" anchor="ctr"/>
          <a:lstStyle/>
          <a:p>
            <a:pPr indent="0" marL="0">
              <a:buNone/>
            </a:pPr>
            <a:r>
              <a:rPr lang="en-US" sz="1000" dirty="0">
                <a:solidFill>
                  <a:srgbClr val="BBCCDD"/>
                </a:solidFill>
                <a:latin typeface="Calibri" pitchFamily="34" charset="0"/>
                <a:ea typeface="Calibri" pitchFamily="34" charset="-122"/>
                <a:cs typeface="Calibri" pitchFamily="34" charset="-120"/>
              </a:rPr>
              <a:t>MFN pricing threatened 82% margin cuts without blocking a single shipment. Modern trade policy is fought in pricing rules and reimbursement structures, not just at the border.</a:t>
            </a:r>
            <a:endParaRPr lang="en-US" sz="1000" dirty="0"/>
          </a:p>
        </p:txBody>
      </p:sp>
      <p:sp>
        <p:nvSpPr>
          <p:cNvPr id="13" name="Shape 11"/>
          <p:cNvSpPr/>
          <p:nvPr/>
        </p:nvSpPr>
        <p:spPr>
          <a:xfrm>
            <a:off x="365760" y="3145536"/>
            <a:ext cx="420624" cy="694944"/>
          </a:xfrm>
          <a:prstGeom prst="rect">
            <a:avLst/>
          </a:prstGeom>
          <a:solidFill>
            <a:srgbClr val="0E8A7A"/>
          </a:solidFill>
          <a:ln w="12700">
            <a:solidFill>
              <a:srgbClr val="0E8A7A"/>
            </a:solidFill>
            <a:prstDash val="solid"/>
          </a:ln>
        </p:spPr>
      </p:sp>
      <p:sp>
        <p:nvSpPr>
          <p:cNvPr id="14" name="Text 12"/>
          <p:cNvSpPr/>
          <p:nvPr/>
        </p:nvSpPr>
        <p:spPr>
          <a:xfrm>
            <a:off x="365760" y="3255264"/>
            <a:ext cx="420624"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5" name="Text 13"/>
          <p:cNvSpPr/>
          <p:nvPr/>
        </p:nvSpPr>
        <p:spPr>
          <a:xfrm>
            <a:off x="960120" y="3182112"/>
            <a:ext cx="7772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FDI as Defense, Not Just Growth</a:t>
            </a:r>
            <a:endParaRPr lang="en-US" sz="1300" dirty="0"/>
          </a:p>
        </p:txBody>
      </p:sp>
      <p:sp>
        <p:nvSpPr>
          <p:cNvPr id="16" name="Text 14"/>
          <p:cNvSpPr/>
          <p:nvPr/>
        </p:nvSpPr>
        <p:spPr>
          <a:xfrm>
            <a:off x="960120" y="3465576"/>
            <a:ext cx="7772400" cy="347472"/>
          </a:xfrm>
          <a:prstGeom prst="rect">
            <a:avLst/>
          </a:prstGeom>
          <a:noFill/>
          <a:ln/>
        </p:spPr>
        <p:txBody>
          <a:bodyPr wrap="square" rtlCol="0" anchor="ctr"/>
          <a:lstStyle/>
          <a:p>
            <a:pPr indent="0" marL="0">
              <a:buNone/>
            </a:pPr>
            <a:r>
              <a:rPr lang="en-US" sz="1000" dirty="0">
                <a:solidFill>
                  <a:srgbClr val="BBCCDD"/>
                </a:solidFill>
                <a:latin typeface="Calibri" pitchFamily="34" charset="0"/>
                <a:ea typeface="Calibri" pitchFamily="34" charset="-122"/>
                <a:cs typeface="Calibri" pitchFamily="34" charset="-120"/>
              </a:rPr>
              <a:t>The $10B Clayton, NC commitment and the Catalent acquisition show that FDI is increasingly a political tool — buying market access and protection as much as production efficiency.</a:t>
            </a:r>
            <a:endParaRPr lang="en-US" sz="1000" dirty="0"/>
          </a:p>
        </p:txBody>
      </p:sp>
      <p:sp>
        <p:nvSpPr>
          <p:cNvPr id="17" name="Shape 15"/>
          <p:cNvSpPr/>
          <p:nvPr/>
        </p:nvSpPr>
        <p:spPr>
          <a:xfrm>
            <a:off x="365760" y="4041648"/>
            <a:ext cx="420624" cy="694944"/>
          </a:xfrm>
          <a:prstGeom prst="rect">
            <a:avLst/>
          </a:prstGeom>
          <a:solidFill>
            <a:srgbClr val="1A3A5C"/>
          </a:solidFill>
          <a:ln w="12700">
            <a:solidFill>
              <a:srgbClr val="1A3A5C"/>
            </a:solidFill>
            <a:prstDash val="solid"/>
          </a:ln>
        </p:spPr>
      </p:sp>
      <p:sp>
        <p:nvSpPr>
          <p:cNvPr id="18" name="Text 16"/>
          <p:cNvSpPr/>
          <p:nvPr/>
        </p:nvSpPr>
        <p:spPr>
          <a:xfrm>
            <a:off x="365760" y="4151376"/>
            <a:ext cx="420624" cy="457200"/>
          </a:xfrm>
          <a:prstGeom prst="rect">
            <a:avLst/>
          </a:prstGeom>
          <a:noFill/>
          <a:ln/>
        </p:spPr>
        <p:txBody>
          <a:bodyPr wrap="square" rtlCol="0" anchor="ctr"/>
          <a:lstStyle/>
          <a:p>
            <a:pPr algn="ctr" indent="0" marL="0">
              <a:buNone/>
            </a:pPr>
            <a:r>
              <a:rPr lang="en-US" sz="1600" b="1" dirty="0">
                <a:solidFill>
                  <a:srgbClr val="C8922A"/>
                </a:solidFill>
                <a:latin typeface="Cambria" pitchFamily="34" charset="0"/>
                <a:ea typeface="Cambria" pitchFamily="34" charset="-122"/>
                <a:cs typeface="Cambria" pitchFamily="34" charset="-120"/>
              </a:rPr>
              <a:t>04</a:t>
            </a:r>
            <a:endParaRPr lang="en-US" sz="1600" dirty="0"/>
          </a:p>
        </p:txBody>
      </p:sp>
      <p:sp>
        <p:nvSpPr>
          <p:cNvPr id="19" name="Text 17"/>
          <p:cNvSpPr/>
          <p:nvPr/>
        </p:nvSpPr>
        <p:spPr>
          <a:xfrm>
            <a:off x="960120" y="4078224"/>
            <a:ext cx="7772400" cy="27432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Innovation Remains the Only Durable Moat</a:t>
            </a:r>
            <a:endParaRPr lang="en-US" sz="1300" dirty="0"/>
          </a:p>
        </p:txBody>
      </p:sp>
      <p:sp>
        <p:nvSpPr>
          <p:cNvPr id="20" name="Text 18"/>
          <p:cNvSpPr/>
          <p:nvPr/>
        </p:nvSpPr>
        <p:spPr>
          <a:xfrm>
            <a:off x="960120" y="4361688"/>
            <a:ext cx="7772400" cy="347472"/>
          </a:xfrm>
          <a:prstGeom prst="rect">
            <a:avLst/>
          </a:prstGeom>
          <a:noFill/>
          <a:ln/>
        </p:spPr>
        <p:txBody>
          <a:bodyPr wrap="square" rtlCol="0" anchor="ctr"/>
          <a:lstStyle/>
          <a:p>
            <a:pPr indent="0" marL="0">
              <a:buNone/>
            </a:pPr>
            <a:r>
              <a:rPr lang="en-US" sz="1000" dirty="0">
                <a:solidFill>
                  <a:srgbClr val="BBCCDD"/>
                </a:solidFill>
                <a:latin typeface="Calibri" pitchFamily="34" charset="0"/>
                <a:ea typeface="Calibri" pitchFamily="34" charset="-122"/>
                <a:cs typeface="Calibri" pitchFamily="34" charset="-120"/>
              </a:rPr>
              <a:t>The 2032 patent cliff is the real long-term threat. Oral semaglutide and CagriSema are not optional investments — they are the only durable answer to both Eli Lilly and compounders.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744"/>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8A7A"/>
          </a:solidFill>
          <a:ln w="12700">
            <a:solidFill>
              <a:srgbClr val="0E8A7A"/>
            </a:solidFill>
            <a:prstDash val="solid"/>
          </a:ln>
        </p:spPr>
      </p:sp>
      <p:sp>
        <p:nvSpPr>
          <p:cNvPr id="3" name="Shape 1"/>
          <p:cNvSpPr/>
          <p:nvPr/>
        </p:nvSpPr>
        <p:spPr>
          <a:xfrm>
            <a:off x="0" y="5070348"/>
            <a:ext cx="9144000" cy="73152"/>
          </a:xfrm>
          <a:prstGeom prst="rect">
            <a:avLst/>
          </a:prstGeom>
          <a:solidFill>
            <a:srgbClr val="C8922A"/>
          </a:solidFill>
          <a:ln w="12700">
            <a:solidFill>
              <a:srgbClr val="C8922A"/>
            </a:solidFill>
            <a:prstDash val="solid"/>
          </a:ln>
        </p:spPr>
      </p:sp>
      <p:sp>
        <p:nvSpPr>
          <p:cNvPr id="4" name="Text 2"/>
          <p:cNvSpPr/>
          <p:nvPr/>
        </p:nvSpPr>
        <p:spPr>
          <a:xfrm>
            <a:off x="914400" y="1097280"/>
            <a:ext cx="7315200" cy="109728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Shape 3"/>
          <p:cNvSpPr/>
          <p:nvPr/>
        </p:nvSpPr>
        <p:spPr>
          <a:xfrm>
            <a:off x="3657600" y="2286000"/>
            <a:ext cx="1828800" cy="54864"/>
          </a:xfrm>
          <a:prstGeom prst="rect">
            <a:avLst/>
          </a:prstGeom>
          <a:solidFill>
            <a:srgbClr val="C8922A"/>
          </a:solidFill>
          <a:ln w="12700">
            <a:solidFill>
              <a:srgbClr val="C8922A"/>
            </a:solidFill>
            <a:prstDash val="solid"/>
          </a:ln>
        </p:spPr>
      </p:sp>
      <p:sp>
        <p:nvSpPr>
          <p:cNvPr id="6" name="Text 4"/>
          <p:cNvSpPr/>
          <p:nvPr/>
        </p:nvSpPr>
        <p:spPr>
          <a:xfrm>
            <a:off x="548640" y="2423160"/>
            <a:ext cx="8046720" cy="457200"/>
          </a:xfrm>
          <a:prstGeom prst="rect">
            <a:avLst/>
          </a:prstGeom>
          <a:noFill/>
          <a:ln/>
        </p:spPr>
        <p:txBody>
          <a:bodyPr wrap="square" rtlCol="0" anchor="ctr"/>
          <a:lstStyle/>
          <a:p>
            <a:pPr algn="ctr" indent="0" marL="0">
              <a:buNone/>
            </a:pPr>
            <a:r>
              <a:rPr lang="en-US" sz="1300" i="1" dirty="0">
                <a:solidFill>
                  <a:srgbClr val="AABBCC"/>
                </a:solidFill>
                <a:latin typeface="Calibri" pitchFamily="34" charset="0"/>
                <a:ea typeface="Calibri" pitchFamily="34" charset="-122"/>
                <a:cs typeface="Calibri" pitchFamily="34" charset="-120"/>
              </a:rPr>
              <a:t>Novo Nordisk and the New Era of Pharmaceutical Trade Disruption</a:t>
            </a:r>
            <a:endParaRPr lang="en-US" sz="1300" dirty="0"/>
          </a:p>
        </p:txBody>
      </p:sp>
      <p:sp>
        <p:nvSpPr>
          <p:cNvPr id="7" name="Text 5"/>
          <p:cNvSpPr/>
          <p:nvPr/>
        </p:nvSpPr>
        <p:spPr>
          <a:xfrm>
            <a:off x="548640" y="2926080"/>
            <a:ext cx="8046720" cy="365760"/>
          </a:xfrm>
          <a:prstGeom prst="rect">
            <a:avLst/>
          </a:prstGeom>
          <a:noFill/>
          <a:ln/>
        </p:spPr>
        <p:txBody>
          <a:bodyPr wrap="square" rtlCol="0" anchor="ctr"/>
          <a:lstStyle/>
          <a:p>
            <a:pPr algn="ctr" indent="0" marL="0">
              <a:buNone/>
            </a:pPr>
            <a:r>
              <a:rPr lang="en-US" sz="1200" dirty="0">
                <a:solidFill>
                  <a:srgbClr val="8A8480"/>
                </a:solidFill>
                <a:latin typeface="Calibri" pitchFamily="34" charset="0"/>
                <a:ea typeface="Calibri" pitchFamily="34" charset="-122"/>
                <a:cs typeface="Calibri" pitchFamily="34" charset="-120"/>
              </a:rPr>
              <a:t>BUS 280  ·  John Aiken</a:t>
            </a:r>
            <a:endParaRPr lang="en-US" sz="1200" dirty="0"/>
          </a:p>
        </p:txBody>
      </p:sp>
      <p:sp>
        <p:nvSpPr>
          <p:cNvPr id="8" name="Text 6"/>
          <p:cNvSpPr/>
          <p:nvPr/>
        </p:nvSpPr>
        <p:spPr>
          <a:xfrm>
            <a:off x="548640" y="3931920"/>
            <a:ext cx="8046720" cy="640080"/>
          </a:xfrm>
          <a:prstGeom prst="rect">
            <a:avLst/>
          </a:prstGeom>
          <a:noFill/>
          <a:ln/>
        </p:spPr>
        <p:txBody>
          <a:bodyPr wrap="square" rtlCol="0" anchor="ctr"/>
          <a:lstStyle/>
          <a:p>
            <a:pPr algn="ctr" indent="0" marL="0">
              <a:lnSpc>
                <a:spcPct val="150000"/>
              </a:lnSpc>
              <a:buNone/>
            </a:pPr>
            <a:r>
              <a:rPr lang="en-US" sz="900" dirty="0">
                <a:solidFill>
                  <a:srgbClr val="556677"/>
                </a:solidFill>
                <a:latin typeface="Calibri" pitchFamily="34" charset="0"/>
                <a:ea typeface="Calibri" pitchFamily="34" charset="-122"/>
                <a:cs typeface="Calibri" pitchFamily="34" charset="-120"/>
              </a:rPr>
              <a:t>Sources: Novo Nordisk Form 20-F (2025a) · Annual Report 2024 (2025b) · Kimball, CNBC (2025)</a:t>
            </a:r>
            <a:endParaRPr lang="en-US" sz="900" dirty="0"/>
          </a:p>
          <a:p>
            <a:pPr algn="ctr" indent="0" marL="0">
              <a:lnSpc>
                <a:spcPct val="150000"/>
              </a:lnSpc>
              <a:buNone/>
            </a:pPr>
            <a:r>
              <a:rPr lang="en-US" sz="900" dirty="0">
                <a:solidFill>
                  <a:srgbClr val="556677"/>
                </a:solidFill>
                <a:latin typeface="Calibri" pitchFamily="34" charset="0"/>
                <a:ea typeface="Calibri" pitchFamily="34" charset="-122"/>
                <a:cs typeface="Calibri" pitchFamily="34" charset="-120"/>
              </a:rPr>
              <a:t>Tankersley, CNN Business (2025) · The White House (2025) · KFF (2025, 2026) · Brookings / Wosińska (2025) · Hill (2023)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Novo Nordisk Trade Disruption Analysis</dc:title>
  <dc:subject>PptxGenJS Presentation</dc:subject>
  <dc:creator>John Aiken</dc:creator>
  <cp:lastModifiedBy>John Aiken</cp:lastModifiedBy>
  <cp:revision>1</cp:revision>
  <dcterms:created xsi:type="dcterms:W3CDTF">2026-02-17T16:51:21Z</dcterms:created>
  <dcterms:modified xsi:type="dcterms:W3CDTF">2026-02-17T16:51:21Z</dcterms:modified>
</cp:coreProperties>
</file>